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92" r:id="rId3"/>
    <p:sldId id="293" r:id="rId4"/>
    <p:sldId id="294" r:id="rId5"/>
    <p:sldId id="295" r:id="rId6"/>
    <p:sldId id="296" r:id="rId7"/>
    <p:sldId id="298" r:id="rId8"/>
    <p:sldId id="299" r:id="rId9"/>
    <p:sldId id="300" r:id="rId10"/>
    <p:sldId id="301" r:id="rId11"/>
    <p:sldId id="30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an Jayce" initials="TJ" lastIdx="1" clrIdx="0">
    <p:extLst>
      <p:ext uri="{19B8F6BF-5375-455C-9EA6-DF929625EA0E}">
        <p15:presenceInfo xmlns:p15="http://schemas.microsoft.com/office/powerpoint/2012/main" userId="23e06668efbd1d9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8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10-31T21:44:35.758" idx="1">
    <p:pos x="2731" y="1925"/>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D2F95-5306-480C-82F4-826952E6A4C2}" type="datetimeFigureOut">
              <a:rPr lang="en-US" smtClean="0"/>
              <a:t>10/31/2022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08E9EA-1C39-4D59-A9C9-DA835C5818BF}" type="slidenum">
              <a:rPr lang="en-US" smtClean="0"/>
              <a:t>‹#›</a:t>
            </a:fld>
            <a:endParaRPr lang="en-US"/>
          </a:p>
        </p:txBody>
      </p:sp>
    </p:spTree>
    <p:extLst>
      <p:ext uri="{BB962C8B-B14F-4D97-AF65-F5344CB8AC3E}">
        <p14:creationId xmlns:p14="http://schemas.microsoft.com/office/powerpoint/2010/main" val="1049032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2447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8083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1597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8504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922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8328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9972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3072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4936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7628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8A663-5B6E-1545-48A6-857C7FA611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26CA5E-54F5-07D7-E2CA-448E1631E6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23F83C-D793-50C8-268A-ABBF3A26144D}"/>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5" name="Footer Placeholder 4">
            <a:extLst>
              <a:ext uri="{FF2B5EF4-FFF2-40B4-BE49-F238E27FC236}">
                <a16:creationId xmlns:a16="http://schemas.microsoft.com/office/drawing/2014/main" id="{9FE00A56-0417-957C-8172-BEB965BB80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DC58A0-FF9D-E087-51B7-01EF23D509B0}"/>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342875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45C17-7CC2-AA30-935F-E4EBCB20A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A6399C-F63F-4B65-F433-97444A6D50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87EFDF-BBD9-6C22-72C5-0C0B0866A04A}"/>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5" name="Footer Placeholder 4">
            <a:extLst>
              <a:ext uri="{FF2B5EF4-FFF2-40B4-BE49-F238E27FC236}">
                <a16:creationId xmlns:a16="http://schemas.microsoft.com/office/drawing/2014/main" id="{75FCF8BD-E3D8-D13E-E6D9-D656922D13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58957E-0E1E-CF0F-8776-2D874E2BB716}"/>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3688764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5144-0907-0A29-BE09-93CC214DF4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5EF66F-E8A8-17C5-274F-4168569804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1222E8-0A86-B5FB-7BF3-6989545B31E2}"/>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5" name="Footer Placeholder 4">
            <a:extLst>
              <a:ext uri="{FF2B5EF4-FFF2-40B4-BE49-F238E27FC236}">
                <a16:creationId xmlns:a16="http://schemas.microsoft.com/office/drawing/2014/main" id="{EA852AF3-F09B-C465-BE32-5D0A0AAE2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83E48-17EA-C0D4-404B-1D5A2A3C0C6E}"/>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2219230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4404B-31F9-519E-A2AF-315E19AB64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659BEB-BC41-CFCB-E63E-C1052A73E0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521A8E-D7DB-2DDC-EAEE-600B205867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15C9EE-E1DD-130F-75A5-4692150A2615}"/>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6" name="Footer Placeholder 5">
            <a:extLst>
              <a:ext uri="{FF2B5EF4-FFF2-40B4-BE49-F238E27FC236}">
                <a16:creationId xmlns:a16="http://schemas.microsoft.com/office/drawing/2014/main" id="{979C257D-BD71-67F4-AD3E-43A971AD93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3E700-08D9-864E-3EC5-0F8D6D19DAC1}"/>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2340595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90A7E-6391-F230-0AE1-76642E53A0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290479-B6FC-C72E-D208-21F7914DC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7A984F-D1A0-4637-992A-B712D53E76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42224B-C0E8-8668-D17A-A20087B8E9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63A102-9068-EA83-05F2-56054B9D17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70E38-DDD1-839B-C0CD-58029FB6F71C}"/>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8" name="Footer Placeholder 7">
            <a:extLst>
              <a:ext uri="{FF2B5EF4-FFF2-40B4-BE49-F238E27FC236}">
                <a16:creationId xmlns:a16="http://schemas.microsoft.com/office/drawing/2014/main" id="{EA08BC5C-7687-7D39-88B6-22CD7DF740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B9F7D3-D191-CFA0-E9D1-529425A5D0C3}"/>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2641754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AB466-1204-40C5-98B7-659E86255C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34CE90-4B2B-6827-D0AC-7301882D74D2}"/>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4" name="Footer Placeholder 3">
            <a:extLst>
              <a:ext uri="{FF2B5EF4-FFF2-40B4-BE49-F238E27FC236}">
                <a16:creationId xmlns:a16="http://schemas.microsoft.com/office/drawing/2014/main" id="{B5B6F33D-16A4-EF23-0FE2-2BB08C5C33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DD5A10-CB84-63C8-BEE7-820E19FFD47B}"/>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239186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659C80-7F8E-1AC4-EA0C-627E31924C2C}"/>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3" name="Footer Placeholder 2">
            <a:extLst>
              <a:ext uri="{FF2B5EF4-FFF2-40B4-BE49-F238E27FC236}">
                <a16:creationId xmlns:a16="http://schemas.microsoft.com/office/drawing/2014/main" id="{45C502EB-1109-43DA-29A3-EBAF101D5F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1AF9A5-E551-5459-1D26-177AD6F8EE3F}"/>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3577173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758BA-236E-802C-1C2F-D42AB55F6D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C0B3C9-6E62-4157-8D5F-DEBB7BD77D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1CB2F7-060E-9A59-DD7C-06826F11CF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E8CCC7-1E04-3126-C2AD-89B8E4DB4600}"/>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6" name="Footer Placeholder 5">
            <a:extLst>
              <a:ext uri="{FF2B5EF4-FFF2-40B4-BE49-F238E27FC236}">
                <a16:creationId xmlns:a16="http://schemas.microsoft.com/office/drawing/2014/main" id="{86302DFC-2043-F82E-4740-A857841AB8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8E4317-946F-244B-F353-9C76CC6DBA66}"/>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218330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9460B-ED0A-F757-0D1F-36033493B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E38EEA-6D61-9D84-651C-2AC09276AC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490276-FAA9-D27D-F4F8-2C5E05F637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22F956-4D76-7D15-2E59-CB7DDC67F924}"/>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6" name="Footer Placeholder 5">
            <a:extLst>
              <a:ext uri="{FF2B5EF4-FFF2-40B4-BE49-F238E27FC236}">
                <a16:creationId xmlns:a16="http://schemas.microsoft.com/office/drawing/2014/main" id="{41CFD466-5FA8-607B-1B60-A986DBE40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37AB4B-E92F-071B-A540-BA4940A470CA}"/>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301438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D1B85-9C76-2358-356B-A84D4209B9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D10058-A63A-3268-CB8F-5E15AE702D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273800-495A-8EA6-C905-176A44BC02A7}"/>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5" name="Footer Placeholder 4">
            <a:extLst>
              <a:ext uri="{FF2B5EF4-FFF2-40B4-BE49-F238E27FC236}">
                <a16:creationId xmlns:a16="http://schemas.microsoft.com/office/drawing/2014/main" id="{7BA8CDA8-2085-6020-3FBD-666173794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844CC-FE4B-B672-1AB1-947218910A1A}"/>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3634331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969D17-2F5D-3A2D-D2D8-650378C0F0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8F3B03-FB97-8373-E917-22B84573C4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2E121-31D1-9393-3474-A3D149F4D9A4}"/>
              </a:ext>
            </a:extLst>
          </p:cNvPr>
          <p:cNvSpPr>
            <a:spLocks noGrp="1"/>
          </p:cNvSpPr>
          <p:nvPr>
            <p:ph type="dt" sz="half" idx="10"/>
          </p:nvPr>
        </p:nvSpPr>
        <p:spPr/>
        <p:txBody>
          <a:bodyPr/>
          <a:lstStyle/>
          <a:p>
            <a:fld id="{9C38858B-74CF-4E9A-94F0-EC7628EBEB21}" type="datetimeFigureOut">
              <a:rPr lang="en-US" smtClean="0"/>
              <a:t>10/31/2022</a:t>
            </a:fld>
            <a:endParaRPr lang="en-US"/>
          </a:p>
        </p:txBody>
      </p:sp>
      <p:sp>
        <p:nvSpPr>
          <p:cNvPr id="5" name="Footer Placeholder 4">
            <a:extLst>
              <a:ext uri="{FF2B5EF4-FFF2-40B4-BE49-F238E27FC236}">
                <a16:creationId xmlns:a16="http://schemas.microsoft.com/office/drawing/2014/main" id="{1242E1BA-E4F2-DBE1-916C-FBA7D49296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E5B33-F181-F1B4-874D-549A35624D1A}"/>
              </a:ext>
            </a:extLst>
          </p:cNvPr>
          <p:cNvSpPr>
            <a:spLocks noGrp="1"/>
          </p:cNvSpPr>
          <p:nvPr>
            <p:ph type="sldNum" sz="quarter" idx="12"/>
          </p:nvPr>
        </p:nvSpPr>
        <p:spPr/>
        <p:txBody>
          <a:bodyPr/>
          <a:lstStyle/>
          <a:p>
            <a:fld id="{2DE976E9-6769-471A-B6B5-3639F9D898C0}" type="slidenum">
              <a:rPr lang="en-US" smtClean="0"/>
              <a:t>‹#›</a:t>
            </a:fld>
            <a:endParaRPr lang="en-US"/>
          </a:p>
        </p:txBody>
      </p:sp>
    </p:spTree>
    <p:extLst>
      <p:ext uri="{BB962C8B-B14F-4D97-AF65-F5344CB8AC3E}">
        <p14:creationId xmlns:p14="http://schemas.microsoft.com/office/powerpoint/2010/main" val="292386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1_Title only">
    <p:bg>
      <p:bgPr>
        <a:solidFill>
          <a:schemeClr val="dk1"/>
        </a:solidFill>
        <a:effectLst/>
      </p:bgPr>
    </p:bg>
    <p:spTree>
      <p:nvGrpSpPr>
        <p:cNvPr id="1" name="Shape 47"/>
        <p:cNvGrpSpPr/>
        <p:nvPr/>
      </p:nvGrpSpPr>
      <p:grpSpPr>
        <a:xfrm>
          <a:off x="0" y="0"/>
          <a:ext cx="0" cy="0"/>
          <a:chOff x="0" y="0"/>
          <a:chExt cx="0" cy="0"/>
        </a:xfrm>
      </p:grpSpPr>
      <p:sp>
        <p:nvSpPr>
          <p:cNvPr id="48" name="Google Shape;48;p6"/>
          <p:cNvSpPr/>
          <p:nvPr/>
        </p:nvSpPr>
        <p:spPr>
          <a:xfrm>
            <a:off x="10379733" y="873200"/>
            <a:ext cx="5876400" cy="5876400"/>
          </a:xfrm>
          <a:prstGeom prst="ellipse">
            <a:avLst/>
          </a:prstGeom>
          <a:gradFill>
            <a:gsLst>
              <a:gs pos="0">
                <a:schemeClr val="lt1"/>
              </a:gs>
              <a:gs pos="72000">
                <a:srgbClr val="ACC4E8">
                  <a:alpha val="0"/>
                </a:srgbClr>
              </a:gs>
              <a:gs pos="91000">
                <a:srgbClr val="ACC4E8">
                  <a:alpha val="0"/>
                </a:srgbClr>
              </a:gs>
              <a:gs pos="100000">
                <a:srgbClr val="ACC4E8">
                  <a:alpha val="0"/>
                </a:srgbClr>
              </a:gs>
            </a:gsLst>
            <a:path path="circle">
              <a:fillToRect l="50000" t="50000" r="50000" b="50000"/>
            </a:path>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9" name="Google Shape;49;p6"/>
          <p:cNvSpPr/>
          <p:nvPr/>
        </p:nvSpPr>
        <p:spPr>
          <a:xfrm rot="1097895" flipH="1">
            <a:off x="-4869607" y="5730036"/>
            <a:ext cx="7846772" cy="1448579"/>
          </a:xfrm>
          <a:prstGeom prst="ellipse">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6"/>
          <p:cNvSpPr/>
          <p:nvPr/>
        </p:nvSpPr>
        <p:spPr>
          <a:xfrm rot="1097895" flipH="1">
            <a:off x="-4918085" y="6570549"/>
            <a:ext cx="7846772" cy="1448579"/>
          </a:xfrm>
          <a:prstGeom prst="ellipse">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6"/>
          <p:cNvSpPr txBox="1">
            <a:spLocks noGrp="1"/>
          </p:cNvSpPr>
          <p:nvPr>
            <p:ph type="subTitle" idx="1"/>
          </p:nvPr>
        </p:nvSpPr>
        <p:spPr>
          <a:xfrm>
            <a:off x="950967" y="719333"/>
            <a:ext cx="3029200" cy="37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atin typeface="Playfair Display"/>
                <a:ea typeface="Playfair Display"/>
                <a:cs typeface="Playfair Display"/>
                <a:sym typeface="Playfair Display"/>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52" name="Google Shape;52;p6"/>
          <p:cNvSpPr txBox="1">
            <a:spLocks noGrp="1"/>
          </p:cNvSpPr>
          <p:nvPr>
            <p:ph type="subTitle" idx="2"/>
          </p:nvPr>
        </p:nvSpPr>
        <p:spPr>
          <a:xfrm>
            <a:off x="4581400" y="719333"/>
            <a:ext cx="3029200" cy="37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atin typeface="Playfair Display"/>
                <a:ea typeface="Playfair Display"/>
                <a:cs typeface="Playfair Display"/>
                <a:sym typeface="Playfair Display"/>
              </a:defRPr>
            </a:lvl1pPr>
            <a:lvl2pPr lvl="1" algn="r" rtl="0">
              <a:lnSpc>
                <a:spcPct val="100000"/>
              </a:lnSpc>
              <a:spcBef>
                <a:spcPts val="0"/>
              </a:spcBef>
              <a:spcAft>
                <a:spcPts val="0"/>
              </a:spcAft>
              <a:buSzPts val="1800"/>
              <a:buNone/>
              <a:defRPr sz="2400"/>
            </a:lvl2pPr>
            <a:lvl3pPr lvl="2" algn="r" rtl="0">
              <a:lnSpc>
                <a:spcPct val="100000"/>
              </a:lnSpc>
              <a:spcBef>
                <a:spcPts val="0"/>
              </a:spcBef>
              <a:spcAft>
                <a:spcPts val="0"/>
              </a:spcAft>
              <a:buSzPts val="1800"/>
              <a:buNone/>
              <a:defRPr sz="2400"/>
            </a:lvl3pPr>
            <a:lvl4pPr lvl="3" algn="r" rtl="0">
              <a:lnSpc>
                <a:spcPct val="100000"/>
              </a:lnSpc>
              <a:spcBef>
                <a:spcPts val="0"/>
              </a:spcBef>
              <a:spcAft>
                <a:spcPts val="0"/>
              </a:spcAft>
              <a:buSzPts val="1800"/>
              <a:buNone/>
              <a:defRPr sz="2400"/>
            </a:lvl4pPr>
            <a:lvl5pPr lvl="4" algn="r" rtl="0">
              <a:lnSpc>
                <a:spcPct val="100000"/>
              </a:lnSpc>
              <a:spcBef>
                <a:spcPts val="0"/>
              </a:spcBef>
              <a:spcAft>
                <a:spcPts val="0"/>
              </a:spcAft>
              <a:buSzPts val="1800"/>
              <a:buNone/>
              <a:defRPr sz="2400"/>
            </a:lvl5pPr>
            <a:lvl6pPr lvl="5" algn="r" rtl="0">
              <a:lnSpc>
                <a:spcPct val="100000"/>
              </a:lnSpc>
              <a:spcBef>
                <a:spcPts val="0"/>
              </a:spcBef>
              <a:spcAft>
                <a:spcPts val="0"/>
              </a:spcAft>
              <a:buSzPts val="1800"/>
              <a:buNone/>
              <a:defRPr sz="2400"/>
            </a:lvl6pPr>
            <a:lvl7pPr lvl="6" algn="r" rtl="0">
              <a:lnSpc>
                <a:spcPct val="100000"/>
              </a:lnSpc>
              <a:spcBef>
                <a:spcPts val="0"/>
              </a:spcBef>
              <a:spcAft>
                <a:spcPts val="0"/>
              </a:spcAft>
              <a:buSzPts val="1800"/>
              <a:buNone/>
              <a:defRPr sz="2400"/>
            </a:lvl7pPr>
            <a:lvl8pPr lvl="7" algn="r" rtl="0">
              <a:lnSpc>
                <a:spcPct val="100000"/>
              </a:lnSpc>
              <a:spcBef>
                <a:spcPts val="0"/>
              </a:spcBef>
              <a:spcAft>
                <a:spcPts val="0"/>
              </a:spcAft>
              <a:buSzPts val="1800"/>
              <a:buNone/>
              <a:defRPr sz="2400"/>
            </a:lvl8pPr>
            <a:lvl9pPr lvl="8" algn="r" rtl="0">
              <a:lnSpc>
                <a:spcPct val="100000"/>
              </a:lnSpc>
              <a:spcBef>
                <a:spcPts val="0"/>
              </a:spcBef>
              <a:spcAft>
                <a:spcPts val="0"/>
              </a:spcAft>
              <a:buSzPts val="1800"/>
              <a:buNone/>
              <a:defRPr sz="2400"/>
            </a:lvl9pPr>
          </a:lstStyle>
          <a:p>
            <a:endParaRPr/>
          </a:p>
        </p:txBody>
      </p:sp>
      <p:sp>
        <p:nvSpPr>
          <p:cNvPr id="53" name="Google Shape;53;p6"/>
          <p:cNvSpPr txBox="1">
            <a:spLocks noGrp="1"/>
          </p:cNvSpPr>
          <p:nvPr>
            <p:ph type="ctrTitle"/>
          </p:nvPr>
        </p:nvSpPr>
        <p:spPr>
          <a:xfrm>
            <a:off x="950933" y="1225495"/>
            <a:ext cx="10290400" cy="9400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5200"/>
              <a:buFont typeface="Playfair Display"/>
              <a:buNone/>
              <a:defRPr sz="5333">
                <a:latin typeface="Playfair Display"/>
                <a:ea typeface="Playfair Display"/>
                <a:cs typeface="Playfair Display"/>
                <a:sym typeface="Playfair Display"/>
              </a:defRPr>
            </a:lvl1pPr>
            <a:lvl2pPr lvl="1" algn="ctr" rtl="0">
              <a:spcBef>
                <a:spcPts val="0"/>
              </a:spcBef>
              <a:spcAft>
                <a:spcPts val="0"/>
              </a:spcAft>
              <a:buSzPts val="5200"/>
              <a:buFont typeface="Playfair Display"/>
              <a:buNone/>
              <a:defRPr sz="6933">
                <a:latin typeface="Playfair Display"/>
                <a:ea typeface="Playfair Display"/>
                <a:cs typeface="Playfair Display"/>
                <a:sym typeface="Playfair Display"/>
              </a:defRPr>
            </a:lvl2pPr>
            <a:lvl3pPr lvl="2" algn="ctr" rtl="0">
              <a:spcBef>
                <a:spcPts val="0"/>
              </a:spcBef>
              <a:spcAft>
                <a:spcPts val="0"/>
              </a:spcAft>
              <a:buSzPts val="5200"/>
              <a:buFont typeface="Playfair Display"/>
              <a:buNone/>
              <a:defRPr sz="6933">
                <a:latin typeface="Playfair Display"/>
                <a:ea typeface="Playfair Display"/>
                <a:cs typeface="Playfair Display"/>
                <a:sym typeface="Playfair Display"/>
              </a:defRPr>
            </a:lvl3pPr>
            <a:lvl4pPr lvl="3" algn="ctr" rtl="0">
              <a:spcBef>
                <a:spcPts val="0"/>
              </a:spcBef>
              <a:spcAft>
                <a:spcPts val="0"/>
              </a:spcAft>
              <a:buSzPts val="5200"/>
              <a:buFont typeface="Playfair Display"/>
              <a:buNone/>
              <a:defRPr sz="6933">
                <a:latin typeface="Playfair Display"/>
                <a:ea typeface="Playfair Display"/>
                <a:cs typeface="Playfair Display"/>
                <a:sym typeface="Playfair Display"/>
              </a:defRPr>
            </a:lvl4pPr>
            <a:lvl5pPr lvl="4" algn="ctr" rtl="0">
              <a:spcBef>
                <a:spcPts val="0"/>
              </a:spcBef>
              <a:spcAft>
                <a:spcPts val="0"/>
              </a:spcAft>
              <a:buSzPts val="5200"/>
              <a:buFont typeface="Playfair Display"/>
              <a:buNone/>
              <a:defRPr sz="6933">
                <a:latin typeface="Playfair Display"/>
                <a:ea typeface="Playfair Display"/>
                <a:cs typeface="Playfair Display"/>
                <a:sym typeface="Playfair Display"/>
              </a:defRPr>
            </a:lvl5pPr>
            <a:lvl6pPr lvl="5" algn="ctr" rtl="0">
              <a:spcBef>
                <a:spcPts val="0"/>
              </a:spcBef>
              <a:spcAft>
                <a:spcPts val="0"/>
              </a:spcAft>
              <a:buSzPts val="5200"/>
              <a:buFont typeface="Playfair Display"/>
              <a:buNone/>
              <a:defRPr sz="6933">
                <a:latin typeface="Playfair Display"/>
                <a:ea typeface="Playfair Display"/>
                <a:cs typeface="Playfair Display"/>
                <a:sym typeface="Playfair Display"/>
              </a:defRPr>
            </a:lvl6pPr>
            <a:lvl7pPr lvl="6" algn="ctr" rtl="0">
              <a:spcBef>
                <a:spcPts val="0"/>
              </a:spcBef>
              <a:spcAft>
                <a:spcPts val="0"/>
              </a:spcAft>
              <a:buSzPts val="5200"/>
              <a:buFont typeface="Playfair Display"/>
              <a:buNone/>
              <a:defRPr sz="6933">
                <a:latin typeface="Playfair Display"/>
                <a:ea typeface="Playfair Display"/>
                <a:cs typeface="Playfair Display"/>
                <a:sym typeface="Playfair Display"/>
              </a:defRPr>
            </a:lvl7pPr>
            <a:lvl8pPr lvl="7" algn="ctr" rtl="0">
              <a:spcBef>
                <a:spcPts val="0"/>
              </a:spcBef>
              <a:spcAft>
                <a:spcPts val="0"/>
              </a:spcAft>
              <a:buSzPts val="5200"/>
              <a:buFont typeface="Playfair Display"/>
              <a:buNone/>
              <a:defRPr sz="6933">
                <a:latin typeface="Playfair Display"/>
                <a:ea typeface="Playfair Display"/>
                <a:cs typeface="Playfair Display"/>
                <a:sym typeface="Playfair Display"/>
              </a:defRPr>
            </a:lvl8pPr>
            <a:lvl9pPr lvl="8" algn="ctr" rtl="0">
              <a:spcBef>
                <a:spcPts val="0"/>
              </a:spcBef>
              <a:spcAft>
                <a:spcPts val="0"/>
              </a:spcAft>
              <a:buSzPts val="5200"/>
              <a:buFont typeface="Playfair Display"/>
              <a:buNone/>
              <a:defRPr sz="6933">
                <a:latin typeface="Playfair Display"/>
                <a:ea typeface="Playfair Display"/>
                <a:cs typeface="Playfair Display"/>
                <a:sym typeface="Playfair Display"/>
              </a:defRPr>
            </a:lvl9pPr>
          </a:lstStyle>
          <a:p>
            <a:endParaRPr/>
          </a:p>
        </p:txBody>
      </p:sp>
    </p:spTree>
    <p:extLst>
      <p:ext uri="{BB962C8B-B14F-4D97-AF65-F5344CB8AC3E}">
        <p14:creationId xmlns:p14="http://schemas.microsoft.com/office/powerpoint/2010/main" val="3615451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B60813-85CB-E8D4-C11F-196802540E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F74610-15C6-359E-8BF9-F82DC5A82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EF7852-F8BA-46CD-E932-8D87B29DA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38858B-74CF-4E9A-94F0-EC7628EBEB21}" type="datetimeFigureOut">
              <a:rPr lang="en-US" smtClean="0"/>
              <a:t>10/31/2022</a:t>
            </a:fld>
            <a:endParaRPr lang="en-US"/>
          </a:p>
        </p:txBody>
      </p:sp>
      <p:sp>
        <p:nvSpPr>
          <p:cNvPr id="5" name="Footer Placeholder 4">
            <a:extLst>
              <a:ext uri="{FF2B5EF4-FFF2-40B4-BE49-F238E27FC236}">
                <a16:creationId xmlns:a16="http://schemas.microsoft.com/office/drawing/2014/main" id="{525DDAEC-0AEC-510B-1B4E-3E42663FF3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CAFC08-3915-A9E6-9DAA-CAB72E3095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976E9-6769-471A-B6B5-3639F9D898C0}" type="slidenum">
              <a:rPr lang="en-US" smtClean="0"/>
              <a:t>‹#›</a:t>
            </a:fld>
            <a:endParaRPr lang="en-US"/>
          </a:p>
        </p:txBody>
      </p:sp>
    </p:spTree>
    <p:extLst>
      <p:ext uri="{BB962C8B-B14F-4D97-AF65-F5344CB8AC3E}">
        <p14:creationId xmlns:p14="http://schemas.microsoft.com/office/powerpoint/2010/main" val="2045973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87261-DFD2-ACEB-4DD1-CA708710F5D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D0D151A-959B-A6F6-34D5-B18F9508378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30919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5" name="TextBox 4">
            <a:extLst>
              <a:ext uri="{FF2B5EF4-FFF2-40B4-BE49-F238E27FC236}">
                <a16:creationId xmlns:a16="http://schemas.microsoft.com/office/drawing/2014/main" id="{96E5F211-1ABB-DEB6-B68B-DD8F75C31197}"/>
              </a:ext>
            </a:extLst>
          </p:cNvPr>
          <p:cNvSpPr txBox="1"/>
          <p:nvPr/>
        </p:nvSpPr>
        <p:spPr>
          <a:xfrm>
            <a:off x="467360" y="483331"/>
            <a:ext cx="11724640" cy="5754139"/>
          </a:xfrm>
          <a:prstGeom prst="rect">
            <a:avLst/>
          </a:prstGeom>
          <a:noFill/>
        </p:spPr>
        <p:txBody>
          <a:bodyPr wrap="square">
            <a:spAutoFit/>
          </a:bodyPr>
          <a:lstStyle/>
          <a:p>
            <a:pPr marL="457189" indent="-457189">
              <a:lnSpc>
                <a:spcPct val="107000"/>
              </a:lnSpc>
              <a:spcAft>
                <a:spcPts val="1067"/>
              </a:spcAft>
              <a:buClr>
                <a:schemeClr val="bg2"/>
              </a:buClr>
              <a:buSzPts val="1000"/>
              <a:buFont typeface="Wingdings" panose="05000000000000000000" pitchFamily="2" charset="2"/>
              <a:buChar char=""/>
              <a:tabLst>
                <a:tab pos="609585" algn="l"/>
              </a:tabLst>
            </a:pPr>
            <a:r>
              <a:rPr lang="en-US" sz="2667" b="1"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Set up the table relationships</a:t>
            </a:r>
            <a:r>
              <a:rPr lang="en-US" sz="2667"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   </a:t>
            </a:r>
            <a:endParaRPr lang="en-US" sz="1467" dirty="0">
              <a:solidFill>
                <a:schemeClr val="bg2"/>
              </a:solidFill>
              <a:latin typeface="Calibri" panose="020F0502020204030204" pitchFamily="34" charset="0"/>
              <a:ea typeface="Calibri" panose="020F0502020204030204" pitchFamily="34" charset="0"/>
              <a:cs typeface="Times New Roman" panose="02020603050405020304" pitchFamily="18" charset="0"/>
            </a:endParaRPr>
          </a:p>
          <a:p>
            <a:pPr marL="457189" indent="-457189">
              <a:buSzPts val="1000"/>
              <a:buFont typeface="Wingdings" panose="05000000000000000000" pitchFamily="2" charset="2"/>
              <a:buChar char=""/>
              <a:tabLst>
                <a:tab pos="609585" algn="l"/>
              </a:tabLst>
            </a:pPr>
            <a:r>
              <a:rPr lang="en-US" sz="2667" dirty="0">
                <a:solidFill>
                  <a:schemeClr val="bg2"/>
                </a:solidFill>
                <a:latin typeface="Segoe UI" panose="020B0502040204020203" pitchFamily="34" charset="0"/>
                <a:ea typeface="Times New Roman" panose="02020603050405020304" pitchFamily="18" charset="0"/>
              </a:rPr>
              <a:t>Look at each table and decide how the data in one table is related to the data in other tables. Add fields to tables or create new tables to clarify the relationships, as necessary</a:t>
            </a:r>
            <a:endParaRPr lang="en-US" sz="1467" dirty="0">
              <a:solidFill>
                <a:schemeClr val="bg2"/>
              </a:solidFill>
              <a:latin typeface="Calibri" panose="020F0502020204030204" pitchFamily="34" charset="0"/>
              <a:ea typeface="Calibri" panose="020F0502020204030204" pitchFamily="34" charset="0"/>
              <a:cs typeface="Times New Roman" panose="02020603050405020304" pitchFamily="18" charset="0"/>
            </a:endParaRPr>
          </a:p>
          <a:p>
            <a:pPr marL="457189" indent="-457189">
              <a:lnSpc>
                <a:spcPct val="107000"/>
              </a:lnSpc>
              <a:spcAft>
                <a:spcPts val="1067"/>
              </a:spcAft>
              <a:buClr>
                <a:schemeClr val="bg2"/>
              </a:buClr>
              <a:buSzPts val="1000"/>
              <a:buFont typeface="Wingdings" panose="05000000000000000000" pitchFamily="2" charset="2"/>
              <a:buChar char=""/>
              <a:tabLst>
                <a:tab pos="609585" algn="l"/>
              </a:tabLst>
            </a:pPr>
            <a:r>
              <a:rPr lang="en-US" sz="2667" b="1"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Refine your design</a:t>
            </a:r>
            <a:r>
              <a:rPr lang="vi-VN" sz="2667" b="1"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 </a:t>
            </a:r>
          </a:p>
          <a:p>
            <a:pPr marL="457189" lvl="1" indent="-457189">
              <a:lnSpc>
                <a:spcPct val="107000"/>
              </a:lnSpc>
              <a:spcAft>
                <a:spcPts val="1067"/>
              </a:spcAft>
              <a:buSzPts val="1000"/>
              <a:buFont typeface="Wingdings" panose="05000000000000000000" pitchFamily="2" charset="2"/>
              <a:buChar char=""/>
              <a:tabLst>
                <a:tab pos="609585" algn="l"/>
              </a:tabLst>
            </a:pPr>
            <a:r>
              <a:rPr lang="en-US" sz="2667"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Analyze your design for errors. Create the tables and add a few</a:t>
            </a:r>
            <a:r>
              <a:rPr lang="vi-VN" sz="2667"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 </a:t>
            </a:r>
            <a:r>
              <a:rPr lang="en-US" sz="2667"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records of sample data. See if you can get the results you want from your tables. Make adjustments to the design, as needed</a:t>
            </a:r>
            <a:endParaRPr lang="vi-VN" sz="2667" dirty="0">
              <a:solidFill>
                <a:schemeClr val="bg2"/>
              </a:solidFill>
              <a:latin typeface="Segoe UI" panose="020B0502040204020203" pitchFamily="34" charset="0"/>
              <a:ea typeface="Times New Roman" panose="02020603050405020304" pitchFamily="18" charset="0"/>
              <a:cs typeface="Times New Roman" panose="02020603050405020304" pitchFamily="18" charset="0"/>
            </a:endParaRPr>
          </a:p>
          <a:p>
            <a:pPr marL="457189" indent="-457189">
              <a:lnSpc>
                <a:spcPct val="107000"/>
              </a:lnSpc>
              <a:spcAft>
                <a:spcPts val="1067"/>
              </a:spcAft>
              <a:buClr>
                <a:schemeClr val="accent3"/>
              </a:buClr>
              <a:buSzPts val="1000"/>
              <a:buFont typeface="Wingdings" panose="05000000000000000000" pitchFamily="2" charset="2"/>
              <a:buChar char=""/>
              <a:tabLst>
                <a:tab pos="609585" algn="l"/>
              </a:tabLst>
            </a:pPr>
            <a:r>
              <a:rPr lang="en-US" sz="2667" b="1" dirty="0">
                <a:solidFill>
                  <a:schemeClr val="bg2"/>
                </a:solidFill>
                <a:latin typeface="Segoe UI" panose="020B0502040204020203" pitchFamily="34" charset="0"/>
                <a:ea typeface="Times New Roman" panose="02020603050405020304" pitchFamily="18" charset="0"/>
                <a:cs typeface="Times New Roman" panose="02020603050405020304" pitchFamily="18" charset="0"/>
              </a:rPr>
              <a:t>Apply the normalization rules</a:t>
            </a:r>
            <a:endParaRPr lang="en-US" sz="1467" dirty="0">
              <a:solidFill>
                <a:schemeClr val="bg2"/>
              </a:solidFill>
              <a:latin typeface="Calibri" panose="020F0502020204030204" pitchFamily="34" charset="0"/>
              <a:ea typeface="Calibri" panose="020F0502020204030204" pitchFamily="34" charset="0"/>
              <a:cs typeface="Times New Roman" panose="02020603050405020304" pitchFamily="18" charset="0"/>
            </a:endParaRPr>
          </a:p>
          <a:p>
            <a:pPr lvl="2"/>
            <a:r>
              <a:rPr lang="vi-VN" sz="2667" dirty="0">
                <a:solidFill>
                  <a:schemeClr val="bg2"/>
                </a:solidFill>
                <a:latin typeface="Segoe UI" panose="020B0502040204020203" pitchFamily="34" charset="0"/>
                <a:ea typeface="Times New Roman" panose="02020603050405020304" pitchFamily="18" charset="0"/>
              </a:rPr>
              <a:t>    </a:t>
            </a:r>
            <a:r>
              <a:rPr lang="en-US" sz="2667" dirty="0">
                <a:solidFill>
                  <a:schemeClr val="bg2"/>
                </a:solidFill>
                <a:latin typeface="Segoe UI" panose="020B0502040204020203" pitchFamily="34" charset="0"/>
                <a:ea typeface="Times New Roman" panose="02020603050405020304" pitchFamily="18" charset="0"/>
              </a:rPr>
              <a:t>Apply the data normalization rules to see if your tables are structured</a:t>
            </a:r>
            <a:endParaRPr lang="vi-VN" sz="2667" dirty="0">
              <a:solidFill>
                <a:schemeClr val="bg2"/>
              </a:solidFill>
              <a:latin typeface="Segoe UI" panose="020B0502040204020203" pitchFamily="34" charset="0"/>
              <a:ea typeface="Times New Roman" panose="02020603050405020304" pitchFamily="18" charset="0"/>
            </a:endParaRPr>
          </a:p>
          <a:p>
            <a:pPr lvl="2"/>
            <a:r>
              <a:rPr lang="vi-VN" sz="2667" dirty="0">
                <a:solidFill>
                  <a:schemeClr val="bg2"/>
                </a:solidFill>
                <a:latin typeface="Segoe UI" panose="020B0502040204020203" pitchFamily="34" charset="0"/>
                <a:ea typeface="Times New Roman" panose="02020603050405020304" pitchFamily="18" charset="0"/>
              </a:rPr>
              <a:t>    </a:t>
            </a:r>
            <a:r>
              <a:rPr lang="en-US" sz="2667" dirty="0">
                <a:solidFill>
                  <a:schemeClr val="bg2"/>
                </a:solidFill>
                <a:latin typeface="Segoe UI" panose="020B0502040204020203" pitchFamily="34" charset="0"/>
                <a:ea typeface="Times New Roman" panose="02020603050405020304" pitchFamily="18" charset="0"/>
              </a:rPr>
              <a:t>correctly. Make adjustments to the tables, as</a:t>
            </a:r>
            <a:r>
              <a:rPr lang="vi-VN" sz="2667" dirty="0">
                <a:solidFill>
                  <a:schemeClr val="bg2"/>
                </a:solidFill>
                <a:latin typeface="Segoe UI" panose="020B0502040204020203" pitchFamily="34" charset="0"/>
                <a:ea typeface="Times New Roman" panose="02020603050405020304" pitchFamily="18" charset="0"/>
              </a:rPr>
              <a:t> </a:t>
            </a:r>
            <a:r>
              <a:rPr lang="en-US" sz="2667" dirty="0">
                <a:solidFill>
                  <a:schemeClr val="bg2"/>
                </a:solidFill>
                <a:latin typeface="Segoe UI" panose="020B0502040204020203" pitchFamily="34" charset="0"/>
                <a:ea typeface="Times New Roman" panose="02020603050405020304" pitchFamily="18" charset="0"/>
              </a:rPr>
              <a:t>needed</a:t>
            </a:r>
            <a:endParaRPr lang="en-US" sz="2667" dirty="0">
              <a:solidFill>
                <a:schemeClr val="bg2"/>
              </a:solidFill>
            </a:endParaRPr>
          </a:p>
        </p:txBody>
      </p:sp>
    </p:spTree>
    <p:extLst>
      <p:ext uri="{BB962C8B-B14F-4D97-AF65-F5344CB8AC3E}">
        <p14:creationId xmlns:p14="http://schemas.microsoft.com/office/powerpoint/2010/main" val="2796946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5" name="TextBox 4">
            <a:extLst>
              <a:ext uri="{FF2B5EF4-FFF2-40B4-BE49-F238E27FC236}">
                <a16:creationId xmlns:a16="http://schemas.microsoft.com/office/drawing/2014/main" id="{D5F1D53B-0AF2-CBEF-2966-BF7AA8308745}"/>
              </a:ext>
            </a:extLst>
          </p:cNvPr>
          <p:cNvSpPr txBox="1"/>
          <p:nvPr/>
        </p:nvSpPr>
        <p:spPr>
          <a:xfrm>
            <a:off x="-76200" y="79297"/>
            <a:ext cx="10495280" cy="666786"/>
          </a:xfrm>
          <a:prstGeom prst="rect">
            <a:avLst/>
          </a:prstGeom>
          <a:noFill/>
        </p:spPr>
        <p:txBody>
          <a:bodyPr wrap="square">
            <a:spAutoFit/>
          </a:bodyPr>
          <a:lstStyle/>
          <a:p>
            <a:pPr marL="609585" indent="-609585">
              <a:buClr>
                <a:schemeClr val="bg2"/>
              </a:buClr>
              <a:buFont typeface="Wingdings" panose="05000000000000000000" pitchFamily="2" charset="2"/>
              <a:buChar char="Ø"/>
            </a:pPr>
            <a:r>
              <a:rPr lang="en-US" sz="3733" dirty="0">
                <a:solidFill>
                  <a:schemeClr val="bg2"/>
                </a:solidFill>
              </a:rPr>
              <a:t>Determine the purpose of your database</a:t>
            </a:r>
          </a:p>
        </p:txBody>
      </p:sp>
      <p:sp>
        <p:nvSpPr>
          <p:cNvPr id="7" name="TextBox 6">
            <a:extLst>
              <a:ext uri="{FF2B5EF4-FFF2-40B4-BE49-F238E27FC236}">
                <a16:creationId xmlns:a16="http://schemas.microsoft.com/office/drawing/2014/main" id="{7A2B816D-DC8F-AA9C-666C-6E85AAD16FE2}"/>
              </a:ext>
            </a:extLst>
          </p:cNvPr>
          <p:cNvSpPr txBox="1"/>
          <p:nvPr/>
        </p:nvSpPr>
        <p:spPr>
          <a:xfrm>
            <a:off x="1010920" y="776923"/>
            <a:ext cx="11729720" cy="830997"/>
          </a:xfrm>
          <a:prstGeom prst="rect">
            <a:avLst/>
          </a:prstGeom>
          <a:noFill/>
        </p:spPr>
        <p:txBody>
          <a:bodyPr wrap="square">
            <a:spAutoFit/>
          </a:bodyPr>
          <a:lstStyle/>
          <a:p>
            <a:pPr marL="380990" indent="-380990">
              <a:buClr>
                <a:schemeClr val="bg2"/>
              </a:buClr>
              <a:buFont typeface="Courier New" panose="02070309020205020404" pitchFamily="49" charset="0"/>
              <a:buChar char="o"/>
            </a:pPr>
            <a:r>
              <a:rPr lang="en-US" sz="2400" dirty="0">
                <a:solidFill>
                  <a:schemeClr val="bg2"/>
                </a:solidFill>
              </a:rPr>
              <a:t>It is a good idea to write down the purpose of the database on paper — its purpose, how you expect to use it, and who will use it. For a small database for a home based business</a:t>
            </a:r>
          </a:p>
        </p:txBody>
      </p:sp>
      <p:sp>
        <p:nvSpPr>
          <p:cNvPr id="11" name="TextBox 10">
            <a:extLst>
              <a:ext uri="{FF2B5EF4-FFF2-40B4-BE49-F238E27FC236}">
                <a16:creationId xmlns:a16="http://schemas.microsoft.com/office/drawing/2014/main" id="{441047BD-C1F4-8DEF-9DB5-163AD580C819}"/>
              </a:ext>
            </a:extLst>
          </p:cNvPr>
          <p:cNvSpPr txBox="1"/>
          <p:nvPr/>
        </p:nvSpPr>
        <p:spPr>
          <a:xfrm>
            <a:off x="-76200" y="2008029"/>
            <a:ext cx="10495280" cy="1241237"/>
          </a:xfrm>
          <a:prstGeom prst="rect">
            <a:avLst/>
          </a:prstGeom>
          <a:noFill/>
        </p:spPr>
        <p:txBody>
          <a:bodyPr wrap="square">
            <a:spAutoFit/>
          </a:bodyPr>
          <a:lstStyle/>
          <a:p>
            <a:pPr marL="609585" indent="-609585">
              <a:buClr>
                <a:schemeClr val="bg2"/>
              </a:buClr>
              <a:buFont typeface="Wingdings" panose="05000000000000000000" pitchFamily="2" charset="2"/>
              <a:buChar char="Ø"/>
            </a:pPr>
            <a:r>
              <a:rPr lang="en-US" sz="3733" dirty="0">
                <a:solidFill>
                  <a:schemeClr val="bg2"/>
                </a:solidFill>
              </a:rPr>
              <a:t>To find and organize the information required, start with your existing information</a:t>
            </a:r>
          </a:p>
        </p:txBody>
      </p:sp>
      <p:pic>
        <p:nvPicPr>
          <p:cNvPr id="12" name="Picture 11">
            <a:extLst>
              <a:ext uri="{FF2B5EF4-FFF2-40B4-BE49-F238E27FC236}">
                <a16:creationId xmlns:a16="http://schemas.microsoft.com/office/drawing/2014/main" id="{3CFE0E51-9D78-8E1E-6080-D0B9396EFAB2}"/>
              </a:ext>
            </a:extLst>
          </p:cNvPr>
          <p:cNvPicPr>
            <a:picLocks noChangeAspect="1"/>
          </p:cNvPicPr>
          <p:nvPr/>
        </p:nvPicPr>
        <p:blipFill>
          <a:blip r:embed="rId3"/>
          <a:stretch>
            <a:fillRect/>
          </a:stretch>
        </p:blipFill>
        <p:spPr>
          <a:xfrm>
            <a:off x="3863339" y="3142451"/>
            <a:ext cx="4782820" cy="3636253"/>
          </a:xfrm>
          <a:prstGeom prst="rect">
            <a:avLst/>
          </a:prstGeom>
        </p:spPr>
      </p:pic>
    </p:spTree>
    <p:extLst>
      <p:ext uri="{BB962C8B-B14F-4D97-AF65-F5344CB8AC3E}">
        <p14:creationId xmlns:p14="http://schemas.microsoft.com/office/powerpoint/2010/main" val="500383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5" name="TextBox 4">
            <a:extLst>
              <a:ext uri="{FF2B5EF4-FFF2-40B4-BE49-F238E27FC236}">
                <a16:creationId xmlns:a16="http://schemas.microsoft.com/office/drawing/2014/main" id="{B29E1E74-342C-E0F1-FD6C-7FC0AAA84AA9}"/>
              </a:ext>
            </a:extLst>
          </p:cNvPr>
          <p:cNvSpPr txBox="1"/>
          <p:nvPr/>
        </p:nvSpPr>
        <p:spPr>
          <a:xfrm>
            <a:off x="243840" y="94250"/>
            <a:ext cx="10495280" cy="1256691"/>
          </a:xfrm>
          <a:prstGeom prst="rect">
            <a:avLst/>
          </a:prstGeom>
          <a:noFill/>
        </p:spPr>
        <p:txBody>
          <a:bodyPr wrap="square">
            <a:spAutoFit/>
          </a:bodyPr>
          <a:lstStyle/>
          <a:p>
            <a:pPr marL="609585" indent="-609585">
              <a:spcBef>
                <a:spcPts val="4800"/>
              </a:spcBef>
              <a:spcAft>
                <a:spcPts val="2000"/>
              </a:spcAft>
              <a:buClr>
                <a:schemeClr val="accent4"/>
              </a:buClr>
              <a:buFont typeface="Wingdings" panose="05000000000000000000" pitchFamily="2" charset="2"/>
              <a:buChar char="Ø"/>
            </a:pPr>
            <a:r>
              <a:rPr lang="en-US" sz="3733" dirty="0">
                <a:solidFill>
                  <a:schemeClr val="bg2"/>
                </a:solidFill>
                <a:latin typeface="Segoe UI Semilight" panose="020B0402040204020203" pitchFamily="34" charset="0"/>
                <a:ea typeface="Times New Roman" panose="02020603050405020304" pitchFamily="18" charset="0"/>
              </a:rPr>
              <a:t>Dividing the information into tables</a:t>
            </a:r>
            <a:endParaRPr lang="en-US" sz="2667" b="1" dirty="0">
              <a:solidFill>
                <a:schemeClr val="bg2"/>
              </a:solidFill>
              <a:latin typeface="Times New Roman" panose="02020603050405020304" pitchFamily="18" charset="0"/>
              <a:ea typeface="Times New Roman" panose="02020603050405020304" pitchFamily="18" charset="0"/>
            </a:endParaRPr>
          </a:p>
          <a:p>
            <a:pPr>
              <a:lnSpc>
                <a:spcPct val="107000"/>
              </a:lnSpc>
              <a:spcAft>
                <a:spcPts val="1067"/>
              </a:spcAft>
              <a:buClr>
                <a:schemeClr val="accent3"/>
              </a:buClr>
            </a:pPr>
            <a:r>
              <a:rPr lang="vi-VN" sz="2133" dirty="0">
                <a:solidFill>
                  <a:schemeClr val="bg2"/>
                </a:solidFill>
                <a:latin typeface="Segoe UI" panose="020B0502040204020203" pitchFamily="34" charset="0"/>
                <a:ea typeface="Calibri" panose="020F0502020204030204" pitchFamily="34" charset="0"/>
                <a:cs typeface="Times New Roman" panose="02020603050405020304" pitchFamily="18" charset="0"/>
              </a:rPr>
              <a:t>            </a:t>
            </a:r>
            <a:r>
              <a:rPr lang="en-US" sz="2133" dirty="0">
                <a:solidFill>
                  <a:schemeClr val="bg2"/>
                </a:solidFill>
                <a:latin typeface="Segoe UI" panose="020B0502040204020203" pitchFamily="34" charset="0"/>
                <a:ea typeface="Calibri" panose="020F0502020204030204" pitchFamily="34" charset="0"/>
                <a:cs typeface="Times New Roman" panose="02020603050405020304" pitchFamily="18" charset="0"/>
              </a:rPr>
              <a:t>To divide the information into tables, choose the major entities, or subjects</a:t>
            </a:r>
            <a:endParaRPr lang="en-US" sz="2133" dirty="0">
              <a:solidFill>
                <a:schemeClr val="bg2"/>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0D038A8F-CB02-800E-EDC6-707DC2F733FD}"/>
              </a:ext>
            </a:extLst>
          </p:cNvPr>
          <p:cNvPicPr>
            <a:picLocks noChangeAspect="1"/>
          </p:cNvPicPr>
          <p:nvPr/>
        </p:nvPicPr>
        <p:blipFill>
          <a:blip r:embed="rId3"/>
          <a:stretch>
            <a:fillRect/>
          </a:stretch>
        </p:blipFill>
        <p:spPr>
          <a:xfrm>
            <a:off x="2907665" y="1535606"/>
            <a:ext cx="6376671" cy="4823189"/>
          </a:xfrm>
          <a:prstGeom prst="rect">
            <a:avLst/>
          </a:prstGeom>
        </p:spPr>
      </p:pic>
    </p:spTree>
    <p:extLst>
      <p:ext uri="{BB962C8B-B14F-4D97-AF65-F5344CB8AC3E}">
        <p14:creationId xmlns:p14="http://schemas.microsoft.com/office/powerpoint/2010/main" val="2475963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3" name="TextBox 2">
            <a:extLst>
              <a:ext uri="{FF2B5EF4-FFF2-40B4-BE49-F238E27FC236}">
                <a16:creationId xmlns:a16="http://schemas.microsoft.com/office/drawing/2014/main" id="{6CE77DA5-C619-3BC0-7C2E-A6F7DB5747F7}"/>
              </a:ext>
            </a:extLst>
          </p:cNvPr>
          <p:cNvSpPr txBox="1"/>
          <p:nvPr/>
        </p:nvSpPr>
        <p:spPr>
          <a:xfrm>
            <a:off x="604520" y="2701503"/>
            <a:ext cx="12217400" cy="1077218"/>
          </a:xfrm>
          <a:prstGeom prst="rect">
            <a:avLst/>
          </a:prstGeom>
          <a:noFill/>
        </p:spPr>
        <p:txBody>
          <a:bodyPr wrap="square">
            <a:spAutoFit/>
          </a:bodyPr>
          <a:lstStyle/>
          <a:p>
            <a:pPr marL="457189" indent="-457189">
              <a:buClr>
                <a:schemeClr val="bg2"/>
              </a:buClr>
              <a:buFont typeface="Wingdings" panose="05000000000000000000" pitchFamily="2" charset="2"/>
              <a:buChar char="Ø"/>
            </a:pPr>
            <a:r>
              <a:rPr lang="en-US" sz="3200" dirty="0">
                <a:solidFill>
                  <a:schemeClr val="bg2"/>
                </a:solidFill>
                <a:latin typeface="Segoe UI" panose="020B0502040204020203" pitchFamily="34" charset="0"/>
                <a:ea typeface="Calibri" panose="020F0502020204030204" pitchFamily="34" charset="0"/>
              </a:rPr>
              <a:t>In this case, each row contains information about both the product and its supplier </a:t>
            </a:r>
            <a:endParaRPr lang="en-US" sz="4267" dirty="0">
              <a:solidFill>
                <a:schemeClr val="bg2"/>
              </a:solidFill>
            </a:endParaRPr>
          </a:p>
        </p:txBody>
      </p:sp>
      <p:sp>
        <p:nvSpPr>
          <p:cNvPr id="5" name="TextBox 4">
            <a:extLst>
              <a:ext uri="{FF2B5EF4-FFF2-40B4-BE49-F238E27FC236}">
                <a16:creationId xmlns:a16="http://schemas.microsoft.com/office/drawing/2014/main" id="{36B90A1E-8019-33C4-150E-05E0604A505F}"/>
              </a:ext>
            </a:extLst>
          </p:cNvPr>
          <p:cNvSpPr txBox="1"/>
          <p:nvPr/>
        </p:nvSpPr>
        <p:spPr>
          <a:xfrm>
            <a:off x="604520" y="4156497"/>
            <a:ext cx="10495280" cy="1077218"/>
          </a:xfrm>
          <a:prstGeom prst="rect">
            <a:avLst/>
          </a:prstGeom>
          <a:noFill/>
        </p:spPr>
        <p:txBody>
          <a:bodyPr wrap="square">
            <a:spAutoFit/>
          </a:bodyPr>
          <a:lstStyle/>
          <a:p>
            <a:pPr marL="457189" indent="-457189">
              <a:buClr>
                <a:schemeClr val="bg2"/>
              </a:buClr>
              <a:buFont typeface="Wingdings" panose="05000000000000000000" pitchFamily="2" charset="2"/>
              <a:buChar char="Ø"/>
            </a:pPr>
            <a:r>
              <a:rPr lang="en-US" sz="3200" dirty="0">
                <a:solidFill>
                  <a:schemeClr val="bg2"/>
                </a:solidFill>
                <a:latin typeface="Segoe UI" panose="020B0502040204020203" pitchFamily="34" charset="0"/>
                <a:ea typeface="Calibri" panose="020F0502020204030204" pitchFamily="34" charset="0"/>
              </a:rPr>
              <a:t>A second problem with this design comes about when you need to modify information about the supplier</a:t>
            </a:r>
            <a:endParaRPr lang="en-US" sz="3200" dirty="0">
              <a:solidFill>
                <a:schemeClr val="bg2"/>
              </a:solidFill>
            </a:endParaRPr>
          </a:p>
        </p:txBody>
      </p:sp>
      <p:sp>
        <p:nvSpPr>
          <p:cNvPr id="7" name="TextBox 6">
            <a:extLst>
              <a:ext uri="{FF2B5EF4-FFF2-40B4-BE49-F238E27FC236}">
                <a16:creationId xmlns:a16="http://schemas.microsoft.com/office/drawing/2014/main" id="{AC59E0CC-4288-0E8E-CBBA-9E5D56EC372F}"/>
              </a:ext>
            </a:extLst>
          </p:cNvPr>
          <p:cNvSpPr txBox="1"/>
          <p:nvPr/>
        </p:nvSpPr>
        <p:spPr>
          <a:xfrm>
            <a:off x="604520" y="5606336"/>
            <a:ext cx="10495280" cy="1077218"/>
          </a:xfrm>
          <a:prstGeom prst="rect">
            <a:avLst/>
          </a:prstGeom>
          <a:noFill/>
        </p:spPr>
        <p:txBody>
          <a:bodyPr wrap="square">
            <a:spAutoFit/>
          </a:bodyPr>
          <a:lstStyle/>
          <a:p>
            <a:pPr marL="457189" indent="-457189">
              <a:buClr>
                <a:schemeClr val="bg2"/>
              </a:buClr>
              <a:buFont typeface="Wingdings" panose="05000000000000000000" pitchFamily="2" charset="2"/>
              <a:buChar char="Ø"/>
            </a:pPr>
            <a:r>
              <a:rPr lang="en-US" sz="3200" dirty="0">
                <a:solidFill>
                  <a:schemeClr val="bg2"/>
                </a:solidFill>
                <a:latin typeface="Segoe UI" panose="020B0502040204020203" pitchFamily="34" charset="0"/>
                <a:ea typeface="Calibri" panose="020F0502020204030204" pitchFamily="34" charset="0"/>
              </a:rPr>
              <a:t>When you design your database, always try to record each fact just once</a:t>
            </a:r>
            <a:endParaRPr lang="en-US" sz="3200" dirty="0">
              <a:solidFill>
                <a:schemeClr val="bg2"/>
              </a:solidFill>
            </a:endParaRPr>
          </a:p>
        </p:txBody>
      </p:sp>
      <p:pic>
        <p:nvPicPr>
          <p:cNvPr id="8" name="Picture 7">
            <a:extLst>
              <a:ext uri="{FF2B5EF4-FFF2-40B4-BE49-F238E27FC236}">
                <a16:creationId xmlns:a16="http://schemas.microsoft.com/office/drawing/2014/main" id="{308BEAA0-8797-D0A5-3684-1894A7D2C433}"/>
              </a:ext>
            </a:extLst>
          </p:cNvPr>
          <p:cNvPicPr>
            <a:picLocks noChangeAspect="1"/>
          </p:cNvPicPr>
          <p:nvPr/>
        </p:nvPicPr>
        <p:blipFill>
          <a:blip r:embed="rId3"/>
          <a:stretch>
            <a:fillRect/>
          </a:stretch>
        </p:blipFill>
        <p:spPr>
          <a:xfrm>
            <a:off x="2182600" y="196347"/>
            <a:ext cx="7826800" cy="2524435"/>
          </a:xfrm>
          <a:prstGeom prst="rect">
            <a:avLst/>
          </a:prstGeom>
        </p:spPr>
      </p:pic>
    </p:spTree>
    <p:extLst>
      <p:ext uri="{BB962C8B-B14F-4D97-AF65-F5344CB8AC3E}">
        <p14:creationId xmlns:p14="http://schemas.microsoft.com/office/powerpoint/2010/main" val="176887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3" name="TextBox 2">
            <a:extLst>
              <a:ext uri="{FF2B5EF4-FFF2-40B4-BE49-F238E27FC236}">
                <a16:creationId xmlns:a16="http://schemas.microsoft.com/office/drawing/2014/main" id="{BE6B3D17-CA3D-3E27-A900-8C5284BE99CE}"/>
              </a:ext>
            </a:extLst>
          </p:cNvPr>
          <p:cNvSpPr txBox="1"/>
          <p:nvPr/>
        </p:nvSpPr>
        <p:spPr>
          <a:xfrm>
            <a:off x="86360" y="1"/>
            <a:ext cx="10495280" cy="666786"/>
          </a:xfrm>
          <a:prstGeom prst="rect">
            <a:avLst/>
          </a:prstGeom>
          <a:noFill/>
        </p:spPr>
        <p:txBody>
          <a:bodyPr wrap="square">
            <a:spAutoFit/>
          </a:bodyPr>
          <a:lstStyle/>
          <a:p>
            <a:r>
              <a:rPr lang="en-US" sz="3733" dirty="0">
                <a:solidFill>
                  <a:schemeClr val="bg2"/>
                </a:solidFill>
                <a:latin typeface="Segoe UI Semilight" panose="020B0402040204020203" pitchFamily="34" charset="0"/>
                <a:ea typeface="Calibri" panose="020F0502020204030204" pitchFamily="34" charset="0"/>
              </a:rPr>
              <a:t>Turning information items into columns</a:t>
            </a:r>
            <a:endParaRPr lang="en-US" sz="3733" dirty="0">
              <a:solidFill>
                <a:schemeClr val="bg2"/>
              </a:solidFill>
            </a:endParaRPr>
          </a:p>
        </p:txBody>
      </p:sp>
      <p:sp>
        <p:nvSpPr>
          <p:cNvPr id="5" name="TextBox 4">
            <a:extLst>
              <a:ext uri="{FF2B5EF4-FFF2-40B4-BE49-F238E27FC236}">
                <a16:creationId xmlns:a16="http://schemas.microsoft.com/office/drawing/2014/main" id="{C85257D6-A31B-5FDB-A41C-9F55561309BA}"/>
              </a:ext>
            </a:extLst>
          </p:cNvPr>
          <p:cNvSpPr txBox="1"/>
          <p:nvPr/>
        </p:nvSpPr>
        <p:spPr>
          <a:xfrm>
            <a:off x="848360" y="961430"/>
            <a:ext cx="10495280" cy="830997"/>
          </a:xfrm>
          <a:prstGeom prst="rect">
            <a:avLst/>
          </a:prstGeom>
          <a:noFill/>
        </p:spPr>
        <p:txBody>
          <a:bodyPr wrap="square">
            <a:spAutoFit/>
          </a:bodyPr>
          <a:lstStyle/>
          <a:p>
            <a:pPr marL="380990" indent="-380990">
              <a:buClr>
                <a:schemeClr val="bg2"/>
              </a:buClr>
              <a:buFont typeface="Arial" panose="020B0604020202020204" pitchFamily="34" charset="0"/>
              <a:buChar char="•"/>
            </a:pPr>
            <a:r>
              <a:rPr lang="en-US" sz="2400" dirty="0">
                <a:solidFill>
                  <a:schemeClr val="bg2"/>
                </a:solidFill>
                <a:latin typeface="Segoe UI" panose="020B0502040204020203" pitchFamily="34" charset="0"/>
                <a:ea typeface="Calibri" panose="020F0502020204030204" pitchFamily="34" charset="0"/>
              </a:rPr>
              <a:t>To determine the columns in a table, decide what information you need to track about the subject recorded in the table</a:t>
            </a:r>
            <a:endParaRPr lang="en-US" sz="2400" dirty="0">
              <a:solidFill>
                <a:schemeClr val="bg2"/>
              </a:solidFill>
            </a:endParaRPr>
          </a:p>
        </p:txBody>
      </p:sp>
      <p:sp>
        <p:nvSpPr>
          <p:cNvPr id="7" name="TextBox 6">
            <a:extLst>
              <a:ext uri="{FF2B5EF4-FFF2-40B4-BE49-F238E27FC236}">
                <a16:creationId xmlns:a16="http://schemas.microsoft.com/office/drawing/2014/main" id="{80F89842-8F08-7919-6976-E39D72C6C479}"/>
              </a:ext>
            </a:extLst>
          </p:cNvPr>
          <p:cNvSpPr txBox="1"/>
          <p:nvPr/>
        </p:nvSpPr>
        <p:spPr>
          <a:xfrm>
            <a:off x="848360" y="1922861"/>
            <a:ext cx="10495280" cy="830997"/>
          </a:xfrm>
          <a:prstGeom prst="rect">
            <a:avLst/>
          </a:prstGeom>
          <a:noFill/>
        </p:spPr>
        <p:txBody>
          <a:bodyPr wrap="square">
            <a:spAutoFit/>
          </a:bodyPr>
          <a:lstStyle/>
          <a:p>
            <a:pPr marL="380990" indent="-380990">
              <a:buClr>
                <a:schemeClr val="bg2"/>
              </a:buClr>
              <a:buFont typeface="Arial" panose="020B0604020202020204" pitchFamily="34" charset="0"/>
              <a:buChar char="•"/>
            </a:pPr>
            <a:r>
              <a:rPr lang="en-US" sz="2400" dirty="0">
                <a:solidFill>
                  <a:schemeClr val="bg2"/>
                </a:solidFill>
                <a:latin typeface="Segoe UI" panose="020B0502040204020203" pitchFamily="34" charset="0"/>
                <a:ea typeface="Calibri" panose="020F0502020204030204" pitchFamily="34" charset="0"/>
              </a:rPr>
              <a:t>Once you have determined the initial set of columns for each table, you can further refine the columns</a:t>
            </a:r>
            <a:endParaRPr lang="en-US" sz="2400" dirty="0">
              <a:solidFill>
                <a:schemeClr val="bg2"/>
              </a:solidFill>
            </a:endParaRPr>
          </a:p>
        </p:txBody>
      </p:sp>
      <p:pic>
        <p:nvPicPr>
          <p:cNvPr id="8" name="Picture 7">
            <a:extLst>
              <a:ext uri="{FF2B5EF4-FFF2-40B4-BE49-F238E27FC236}">
                <a16:creationId xmlns:a16="http://schemas.microsoft.com/office/drawing/2014/main" id="{625922BC-61EF-851E-DBBA-D3D1FCC4FBEA}"/>
              </a:ext>
            </a:extLst>
          </p:cNvPr>
          <p:cNvPicPr>
            <a:picLocks noChangeAspect="1"/>
          </p:cNvPicPr>
          <p:nvPr/>
        </p:nvPicPr>
        <p:blipFill>
          <a:blip r:embed="rId3"/>
          <a:stretch>
            <a:fillRect/>
          </a:stretch>
        </p:blipFill>
        <p:spPr>
          <a:xfrm>
            <a:off x="4083050" y="2884292"/>
            <a:ext cx="4349751" cy="3842113"/>
          </a:xfrm>
          <a:prstGeom prst="rect">
            <a:avLst/>
          </a:prstGeom>
        </p:spPr>
      </p:pic>
    </p:spTree>
    <p:extLst>
      <p:ext uri="{BB962C8B-B14F-4D97-AF65-F5344CB8AC3E}">
        <p14:creationId xmlns:p14="http://schemas.microsoft.com/office/powerpoint/2010/main" val="3165622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3" name="TextBox 2">
            <a:extLst>
              <a:ext uri="{FF2B5EF4-FFF2-40B4-BE49-F238E27FC236}">
                <a16:creationId xmlns:a16="http://schemas.microsoft.com/office/drawing/2014/main" id="{6320493C-B6B5-40E8-16B6-DA8A8F86B061}"/>
              </a:ext>
            </a:extLst>
          </p:cNvPr>
          <p:cNvSpPr txBox="1"/>
          <p:nvPr/>
        </p:nvSpPr>
        <p:spPr>
          <a:xfrm>
            <a:off x="279400" y="89456"/>
            <a:ext cx="10495280" cy="666786"/>
          </a:xfrm>
          <a:prstGeom prst="rect">
            <a:avLst/>
          </a:prstGeom>
          <a:noFill/>
        </p:spPr>
        <p:txBody>
          <a:bodyPr wrap="square">
            <a:spAutoFit/>
          </a:bodyPr>
          <a:lstStyle/>
          <a:p>
            <a:r>
              <a:rPr lang="en-US" sz="3733" dirty="0">
                <a:solidFill>
                  <a:schemeClr val="bg2"/>
                </a:solidFill>
                <a:latin typeface="Segoe UI Semilight" panose="020B0402040204020203" pitchFamily="34" charset="0"/>
                <a:ea typeface="Calibri" panose="020F0502020204030204" pitchFamily="34" charset="0"/>
              </a:rPr>
              <a:t>Specifying primary keys</a:t>
            </a:r>
            <a:endParaRPr lang="en-US" sz="3733" dirty="0">
              <a:solidFill>
                <a:schemeClr val="bg2"/>
              </a:solidFill>
            </a:endParaRPr>
          </a:p>
        </p:txBody>
      </p:sp>
      <p:sp>
        <p:nvSpPr>
          <p:cNvPr id="5" name="TextBox 4">
            <a:extLst>
              <a:ext uri="{FF2B5EF4-FFF2-40B4-BE49-F238E27FC236}">
                <a16:creationId xmlns:a16="http://schemas.microsoft.com/office/drawing/2014/main" id="{0B1CE88F-2C18-50CF-9202-03C50ACB3216}"/>
              </a:ext>
            </a:extLst>
          </p:cNvPr>
          <p:cNvSpPr txBox="1"/>
          <p:nvPr/>
        </p:nvSpPr>
        <p:spPr>
          <a:xfrm>
            <a:off x="685800" y="1256467"/>
            <a:ext cx="11059160" cy="2513830"/>
          </a:xfrm>
          <a:prstGeom prst="rect">
            <a:avLst/>
          </a:prstGeom>
          <a:noFill/>
        </p:spPr>
        <p:txBody>
          <a:bodyPr wrap="square">
            <a:spAutoFit/>
          </a:bodyPr>
          <a:lstStyle/>
          <a:p>
            <a:pPr marL="457189" indent="-457189">
              <a:buClr>
                <a:schemeClr val="bg2"/>
              </a:buClr>
              <a:buFont typeface="Wingdings" panose="05000000000000000000" pitchFamily="2" charset="2"/>
              <a:buChar char="Ø"/>
            </a:pPr>
            <a:r>
              <a:rPr lang="en-US" sz="2667" dirty="0">
                <a:solidFill>
                  <a:schemeClr val="bg2"/>
                </a:solidFill>
                <a:latin typeface="Segoe UI" panose="020B0502040204020203" pitchFamily="34" charset="0"/>
                <a:ea typeface="Calibri" panose="020F0502020204030204" pitchFamily="34" charset="0"/>
              </a:rPr>
              <a:t>Each table should include a column or set of columns that uniquely identifies each row stored in the </a:t>
            </a:r>
            <a:r>
              <a:rPr lang="vi-VN" sz="2667" dirty="0">
                <a:solidFill>
                  <a:schemeClr val="bg2"/>
                </a:solidFill>
                <a:latin typeface="Segoe UI" panose="020B0502040204020203" pitchFamily="34" charset="0"/>
                <a:ea typeface="Calibri" panose="020F0502020204030204" pitchFamily="34" charset="0"/>
              </a:rPr>
              <a:t>table.</a:t>
            </a:r>
            <a:r>
              <a:rPr lang="en-US" sz="2667" dirty="0">
                <a:solidFill>
                  <a:schemeClr val="bg2"/>
                </a:solidFill>
                <a:latin typeface="Segoe UI" panose="020B0502040204020203" pitchFamily="34" charset="0"/>
                <a:ea typeface="Calibri" panose="020F0502020204030204" pitchFamily="34" charset="0"/>
              </a:rPr>
              <a:t> This is often a unique identification number, such as an employee ID number or a serial number. In database terminology, this information is called the </a:t>
            </a:r>
            <a:r>
              <a:rPr lang="en-US" sz="2667" b="1" dirty="0">
                <a:solidFill>
                  <a:schemeClr val="bg2"/>
                </a:solidFill>
                <a:latin typeface="Segoe UI" panose="020B0502040204020203" pitchFamily="34" charset="0"/>
                <a:ea typeface="Calibri" panose="020F0502020204030204" pitchFamily="34" charset="0"/>
              </a:rPr>
              <a:t>primary key</a:t>
            </a:r>
            <a:r>
              <a:rPr lang="en-US" sz="2667" dirty="0">
                <a:solidFill>
                  <a:schemeClr val="bg2"/>
                </a:solidFill>
                <a:latin typeface="Segoe UI" panose="020B0502040204020203" pitchFamily="34" charset="0"/>
                <a:ea typeface="Calibri" panose="020F0502020204030204" pitchFamily="34" charset="0"/>
              </a:rPr>
              <a:t> of the table</a:t>
            </a:r>
            <a:endParaRPr lang="en-US" sz="2667" dirty="0">
              <a:solidFill>
                <a:schemeClr val="bg2"/>
              </a:solidFill>
            </a:endParaRPr>
          </a:p>
          <a:p>
            <a:pPr marL="380990" indent="-380990">
              <a:buClr>
                <a:schemeClr val="bg2"/>
              </a:buClr>
              <a:buFont typeface="Wingdings" panose="05000000000000000000" pitchFamily="2" charset="2"/>
              <a:buChar char="Ø"/>
            </a:pPr>
            <a:endParaRPr lang="en-US" sz="2400" dirty="0">
              <a:solidFill>
                <a:schemeClr val="bg2"/>
              </a:solidFill>
            </a:endParaRPr>
          </a:p>
        </p:txBody>
      </p:sp>
      <p:sp>
        <p:nvSpPr>
          <p:cNvPr id="9" name="TextBox 8">
            <a:extLst>
              <a:ext uri="{FF2B5EF4-FFF2-40B4-BE49-F238E27FC236}">
                <a16:creationId xmlns:a16="http://schemas.microsoft.com/office/drawing/2014/main" id="{44A4DFF8-5B0F-4B6C-C7DF-75422CC878C7}"/>
              </a:ext>
            </a:extLst>
          </p:cNvPr>
          <p:cNvSpPr txBox="1"/>
          <p:nvPr/>
        </p:nvSpPr>
        <p:spPr>
          <a:xfrm>
            <a:off x="685800" y="3943667"/>
            <a:ext cx="10495280" cy="913199"/>
          </a:xfrm>
          <a:prstGeom prst="rect">
            <a:avLst/>
          </a:prstGeom>
          <a:noFill/>
        </p:spPr>
        <p:txBody>
          <a:bodyPr wrap="square">
            <a:spAutoFit/>
          </a:bodyPr>
          <a:lstStyle/>
          <a:p>
            <a:pPr marL="457189" indent="-457189">
              <a:buClr>
                <a:schemeClr val="bg2"/>
              </a:buClr>
              <a:buFont typeface="Wingdings" panose="05000000000000000000" pitchFamily="2" charset="2"/>
              <a:buChar char="Ø"/>
            </a:pPr>
            <a:r>
              <a:rPr lang="en-US" sz="2667" dirty="0">
                <a:solidFill>
                  <a:schemeClr val="bg2"/>
                </a:solidFill>
                <a:latin typeface="Segoe UI" panose="020B0502040204020203" pitchFamily="34" charset="0"/>
                <a:ea typeface="Calibri" panose="020F0502020204030204" pitchFamily="34" charset="0"/>
              </a:rPr>
              <a:t>Access using the key fields to quickly join data from multiple tables and aggregate data for you</a:t>
            </a:r>
            <a:endParaRPr lang="en-US" sz="2667" dirty="0">
              <a:solidFill>
                <a:schemeClr val="bg2"/>
              </a:solidFill>
            </a:endParaRPr>
          </a:p>
        </p:txBody>
      </p:sp>
    </p:spTree>
    <p:extLst>
      <p:ext uri="{BB962C8B-B14F-4D97-AF65-F5344CB8AC3E}">
        <p14:creationId xmlns:p14="http://schemas.microsoft.com/office/powerpoint/2010/main" val="3795747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 name="Picture 1">
            <a:extLst>
              <a:ext uri="{FF2B5EF4-FFF2-40B4-BE49-F238E27FC236}">
                <a16:creationId xmlns:a16="http://schemas.microsoft.com/office/drawing/2014/main" id="{2FC56AA3-CE53-7E37-10CE-735B6F96AF9B}"/>
              </a:ext>
            </a:extLst>
          </p:cNvPr>
          <p:cNvPicPr>
            <a:picLocks noChangeAspect="1"/>
          </p:cNvPicPr>
          <p:nvPr/>
        </p:nvPicPr>
        <p:blipFill>
          <a:blip r:embed="rId3"/>
          <a:stretch>
            <a:fillRect/>
          </a:stretch>
        </p:blipFill>
        <p:spPr>
          <a:xfrm>
            <a:off x="2240280" y="1"/>
            <a:ext cx="7919720" cy="2916849"/>
          </a:xfrm>
          <a:prstGeom prst="rect">
            <a:avLst/>
          </a:prstGeom>
        </p:spPr>
      </p:pic>
      <p:sp>
        <p:nvSpPr>
          <p:cNvPr id="6" name="TextBox 5">
            <a:extLst>
              <a:ext uri="{FF2B5EF4-FFF2-40B4-BE49-F238E27FC236}">
                <a16:creationId xmlns:a16="http://schemas.microsoft.com/office/drawing/2014/main" id="{CEF9C461-C7FE-4C7C-C7A4-78A5D881D22F}"/>
              </a:ext>
            </a:extLst>
          </p:cNvPr>
          <p:cNvSpPr txBox="1"/>
          <p:nvPr/>
        </p:nvSpPr>
        <p:spPr>
          <a:xfrm>
            <a:off x="1427480" y="3429000"/>
            <a:ext cx="10495280" cy="2554545"/>
          </a:xfrm>
          <a:prstGeom prst="rect">
            <a:avLst/>
          </a:prstGeom>
          <a:noFill/>
        </p:spPr>
        <p:txBody>
          <a:bodyPr wrap="square">
            <a:spAutoFit/>
          </a:bodyPr>
          <a:lstStyle/>
          <a:p>
            <a:pPr marL="609585" indent="-609585">
              <a:buClr>
                <a:schemeClr val="bg2"/>
              </a:buClr>
              <a:buFont typeface="+mj-lt"/>
              <a:buAutoNum type="arabicPeriod"/>
            </a:pPr>
            <a:r>
              <a:rPr lang="vi-VN" sz="3200" dirty="0">
                <a:solidFill>
                  <a:schemeClr val="bg2"/>
                </a:solidFill>
              </a:rPr>
              <a:t>A column set to the AutoNumber data type often makes a good primary key. No two product IDs are the same</a:t>
            </a:r>
          </a:p>
          <a:p>
            <a:pPr marL="609585" indent="-609585">
              <a:buClr>
                <a:schemeClr val="bg2"/>
              </a:buClr>
              <a:buFont typeface="+mj-lt"/>
              <a:buAutoNum type="arabicPeriod"/>
            </a:pPr>
            <a:r>
              <a:rPr lang="vi-VN" sz="3200" dirty="0">
                <a:solidFill>
                  <a:schemeClr val="bg2"/>
                </a:solidFill>
              </a:rPr>
              <a:t>In some cases, you may want to use two or more fields that, together, provide the primary key of a table</a:t>
            </a:r>
            <a:endParaRPr lang="en-US" sz="3200" dirty="0">
              <a:solidFill>
                <a:schemeClr val="bg2"/>
              </a:solidFill>
            </a:endParaRPr>
          </a:p>
        </p:txBody>
      </p:sp>
    </p:spTree>
    <p:extLst>
      <p:ext uri="{BB962C8B-B14F-4D97-AF65-F5344CB8AC3E}">
        <p14:creationId xmlns:p14="http://schemas.microsoft.com/office/powerpoint/2010/main" val="364896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5" name="TextBox 4">
            <a:extLst>
              <a:ext uri="{FF2B5EF4-FFF2-40B4-BE49-F238E27FC236}">
                <a16:creationId xmlns:a16="http://schemas.microsoft.com/office/drawing/2014/main" id="{744BE324-FAAB-C201-E9FD-066B120D5A80}"/>
              </a:ext>
            </a:extLst>
          </p:cNvPr>
          <p:cNvSpPr txBox="1"/>
          <p:nvPr/>
        </p:nvSpPr>
        <p:spPr>
          <a:xfrm>
            <a:off x="0" y="0"/>
            <a:ext cx="10495280" cy="666786"/>
          </a:xfrm>
          <a:prstGeom prst="rect">
            <a:avLst/>
          </a:prstGeom>
          <a:noFill/>
        </p:spPr>
        <p:txBody>
          <a:bodyPr wrap="square">
            <a:spAutoFit/>
          </a:bodyPr>
          <a:lstStyle/>
          <a:p>
            <a:r>
              <a:rPr lang="en-US" sz="3733" dirty="0">
                <a:solidFill>
                  <a:schemeClr val="bg2"/>
                </a:solidFill>
              </a:rPr>
              <a:t>Creating the table relationships</a:t>
            </a:r>
          </a:p>
        </p:txBody>
      </p:sp>
      <p:sp>
        <p:nvSpPr>
          <p:cNvPr id="7" name="TextBox 6">
            <a:extLst>
              <a:ext uri="{FF2B5EF4-FFF2-40B4-BE49-F238E27FC236}">
                <a16:creationId xmlns:a16="http://schemas.microsoft.com/office/drawing/2014/main" id="{D3AC302B-83A5-053E-A882-4F35766A3B03}"/>
              </a:ext>
            </a:extLst>
          </p:cNvPr>
          <p:cNvSpPr txBox="1"/>
          <p:nvPr/>
        </p:nvSpPr>
        <p:spPr>
          <a:xfrm>
            <a:off x="401320" y="770463"/>
            <a:ext cx="10495280" cy="830997"/>
          </a:xfrm>
          <a:prstGeom prst="rect">
            <a:avLst/>
          </a:prstGeom>
          <a:noFill/>
        </p:spPr>
        <p:txBody>
          <a:bodyPr wrap="square">
            <a:spAutoFit/>
          </a:bodyPr>
          <a:lstStyle/>
          <a:p>
            <a:r>
              <a:rPr lang="en-US" sz="2400" dirty="0">
                <a:solidFill>
                  <a:schemeClr val="bg2"/>
                </a:solidFill>
              </a:rPr>
              <a:t>Now that you have divided your information into tables, you need a way to bring the information together again in meaningful ways</a:t>
            </a:r>
          </a:p>
        </p:txBody>
      </p:sp>
      <p:pic>
        <p:nvPicPr>
          <p:cNvPr id="8" name="Picture 7">
            <a:extLst>
              <a:ext uri="{FF2B5EF4-FFF2-40B4-BE49-F238E27FC236}">
                <a16:creationId xmlns:a16="http://schemas.microsoft.com/office/drawing/2014/main" id="{079ADD56-8B0F-2966-E1F3-E9E97AF2259F}"/>
              </a:ext>
            </a:extLst>
          </p:cNvPr>
          <p:cNvPicPr>
            <a:picLocks noChangeAspect="1"/>
          </p:cNvPicPr>
          <p:nvPr/>
        </p:nvPicPr>
        <p:blipFill>
          <a:blip r:embed="rId3"/>
          <a:stretch>
            <a:fillRect/>
          </a:stretch>
        </p:blipFill>
        <p:spPr>
          <a:xfrm>
            <a:off x="6960448" y="1598914"/>
            <a:ext cx="4896273" cy="4053185"/>
          </a:xfrm>
          <a:prstGeom prst="rect">
            <a:avLst/>
          </a:prstGeom>
        </p:spPr>
      </p:pic>
      <p:sp>
        <p:nvSpPr>
          <p:cNvPr id="12" name="TextBox 11">
            <a:extLst>
              <a:ext uri="{FF2B5EF4-FFF2-40B4-BE49-F238E27FC236}">
                <a16:creationId xmlns:a16="http://schemas.microsoft.com/office/drawing/2014/main" id="{4E666F21-D631-FCE0-AE79-66EDADC2B2F1}"/>
              </a:ext>
            </a:extLst>
          </p:cNvPr>
          <p:cNvSpPr txBox="1"/>
          <p:nvPr/>
        </p:nvSpPr>
        <p:spPr>
          <a:xfrm>
            <a:off x="335280" y="1671521"/>
            <a:ext cx="6675120" cy="3949286"/>
          </a:xfrm>
          <a:prstGeom prst="rect">
            <a:avLst/>
          </a:prstGeom>
          <a:noFill/>
        </p:spPr>
        <p:txBody>
          <a:bodyPr wrap="square">
            <a:spAutoFit/>
          </a:bodyPr>
          <a:lstStyle/>
          <a:p>
            <a:r>
              <a:rPr lang="en-US" sz="2533" dirty="0">
                <a:solidFill>
                  <a:schemeClr val="bg2"/>
                </a:solidFill>
                <a:latin typeface="Segoe UI" panose="020B0502040204020203" pitchFamily="34" charset="0"/>
                <a:ea typeface="Times New Roman" panose="02020603050405020304" pitchFamily="18" charset="0"/>
              </a:rPr>
              <a:t>1. Information in this form comes from the Customers table</a:t>
            </a:r>
            <a:endParaRPr lang="vi-VN" sz="2533" dirty="0">
              <a:solidFill>
                <a:schemeClr val="bg2"/>
              </a:solidFill>
              <a:latin typeface="Segoe UI" panose="020B0502040204020203" pitchFamily="34" charset="0"/>
              <a:ea typeface="Times New Roman" panose="02020603050405020304" pitchFamily="18" charset="0"/>
            </a:endParaRPr>
          </a:p>
          <a:p>
            <a:endParaRPr lang="en-US" sz="1600" dirty="0">
              <a:solidFill>
                <a:schemeClr val="bg2"/>
              </a:solidFill>
              <a:latin typeface="Times New Roman" panose="02020603050405020304" pitchFamily="18" charset="0"/>
              <a:ea typeface="Times New Roman" panose="02020603050405020304" pitchFamily="18" charset="0"/>
            </a:endParaRPr>
          </a:p>
          <a:p>
            <a:r>
              <a:rPr lang="en-US" sz="2533" dirty="0">
                <a:solidFill>
                  <a:schemeClr val="bg2"/>
                </a:solidFill>
                <a:latin typeface="Segoe UI" panose="020B0502040204020203" pitchFamily="34" charset="0"/>
                <a:ea typeface="Times New Roman" panose="02020603050405020304" pitchFamily="18" charset="0"/>
              </a:rPr>
              <a:t>2. ...the Employees table</a:t>
            </a:r>
            <a:endParaRPr lang="vi-VN" sz="2533" dirty="0">
              <a:solidFill>
                <a:schemeClr val="bg2"/>
              </a:solidFill>
              <a:latin typeface="Segoe UI" panose="020B0502040204020203" pitchFamily="34" charset="0"/>
              <a:ea typeface="Times New Roman" panose="02020603050405020304" pitchFamily="18" charset="0"/>
            </a:endParaRPr>
          </a:p>
          <a:p>
            <a:endParaRPr lang="en-US" sz="1600" dirty="0">
              <a:solidFill>
                <a:schemeClr val="bg2"/>
              </a:solidFill>
              <a:latin typeface="Times New Roman" panose="02020603050405020304" pitchFamily="18" charset="0"/>
              <a:ea typeface="Times New Roman" panose="02020603050405020304" pitchFamily="18" charset="0"/>
            </a:endParaRPr>
          </a:p>
          <a:p>
            <a:r>
              <a:rPr lang="en-US" sz="2533" dirty="0">
                <a:solidFill>
                  <a:schemeClr val="bg2"/>
                </a:solidFill>
                <a:latin typeface="Segoe UI" panose="020B0502040204020203" pitchFamily="34" charset="0"/>
                <a:ea typeface="Times New Roman" panose="02020603050405020304" pitchFamily="18" charset="0"/>
              </a:rPr>
              <a:t>3. ...the Orders table... </a:t>
            </a:r>
            <a:endParaRPr lang="vi-VN" sz="2533" dirty="0">
              <a:solidFill>
                <a:schemeClr val="bg2"/>
              </a:solidFill>
              <a:latin typeface="Segoe UI" panose="020B0502040204020203" pitchFamily="34" charset="0"/>
              <a:ea typeface="Times New Roman" panose="02020603050405020304" pitchFamily="18" charset="0"/>
            </a:endParaRPr>
          </a:p>
          <a:p>
            <a:endParaRPr lang="vi-VN" sz="2533" dirty="0">
              <a:solidFill>
                <a:schemeClr val="bg2"/>
              </a:solidFill>
              <a:latin typeface="Segoe UI" panose="020B0502040204020203" pitchFamily="34" charset="0"/>
              <a:ea typeface="Times New Roman" panose="02020603050405020304" pitchFamily="18" charset="0"/>
            </a:endParaRPr>
          </a:p>
          <a:p>
            <a:r>
              <a:rPr lang="en-US" sz="2533" dirty="0">
                <a:solidFill>
                  <a:schemeClr val="bg2"/>
                </a:solidFill>
                <a:latin typeface="Segoe UI" panose="020B0502040204020203" pitchFamily="34" charset="0"/>
                <a:ea typeface="Times New Roman" panose="02020603050405020304" pitchFamily="18" charset="0"/>
              </a:rPr>
              <a:t>4. ...the Products table</a:t>
            </a:r>
            <a:endParaRPr lang="vi-VN" sz="2533" dirty="0">
              <a:solidFill>
                <a:schemeClr val="bg2"/>
              </a:solidFill>
              <a:latin typeface="Segoe UI" panose="020B0502040204020203" pitchFamily="34" charset="0"/>
              <a:ea typeface="Times New Roman" panose="02020603050405020304" pitchFamily="18" charset="0"/>
            </a:endParaRPr>
          </a:p>
          <a:p>
            <a:endParaRPr lang="vi-VN" sz="2533" dirty="0">
              <a:solidFill>
                <a:schemeClr val="bg2"/>
              </a:solidFill>
              <a:latin typeface="Segoe UI" panose="020B0502040204020203" pitchFamily="34" charset="0"/>
              <a:ea typeface="Times New Roman" panose="02020603050405020304" pitchFamily="18" charset="0"/>
            </a:endParaRPr>
          </a:p>
          <a:p>
            <a:r>
              <a:rPr lang="en-US" sz="2533" dirty="0">
                <a:solidFill>
                  <a:schemeClr val="bg2"/>
                </a:solidFill>
                <a:latin typeface="Segoe UI" panose="020B0502040204020203" pitchFamily="34" charset="0"/>
                <a:ea typeface="Times New Roman" panose="02020603050405020304" pitchFamily="18" charset="0"/>
              </a:rPr>
              <a:t>5. ...and the Order Details table.</a:t>
            </a:r>
            <a:endParaRPr lang="vi-VN" sz="2533" dirty="0">
              <a:solidFill>
                <a:schemeClr val="bg2"/>
              </a:solidFill>
              <a:latin typeface="Segoe UI" panose="020B0502040204020203" pitchFamily="34" charset="0"/>
              <a:ea typeface="Times New Roman" panose="02020603050405020304" pitchFamily="18" charset="0"/>
            </a:endParaRPr>
          </a:p>
          <a:p>
            <a:endParaRPr lang="en-US" sz="1600" dirty="0">
              <a:solidFill>
                <a:schemeClr val="bg2"/>
              </a:solidFill>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27972255-1A58-C562-C5B2-7AE214C36973}"/>
              </a:ext>
            </a:extLst>
          </p:cNvPr>
          <p:cNvSpPr txBox="1"/>
          <p:nvPr/>
        </p:nvSpPr>
        <p:spPr>
          <a:xfrm>
            <a:off x="401320" y="5599552"/>
            <a:ext cx="12039600" cy="1200329"/>
          </a:xfrm>
          <a:prstGeom prst="rect">
            <a:avLst/>
          </a:prstGeom>
          <a:noFill/>
        </p:spPr>
        <p:txBody>
          <a:bodyPr wrap="square">
            <a:spAutoFit/>
          </a:bodyPr>
          <a:lstStyle/>
          <a:p>
            <a:pPr marL="380990" indent="-380990">
              <a:buClr>
                <a:schemeClr val="bg2"/>
              </a:buClr>
              <a:buFont typeface="Wingdings" panose="05000000000000000000" pitchFamily="2" charset="2"/>
              <a:buChar char="Ø"/>
            </a:pPr>
            <a:r>
              <a:rPr lang="en-US" sz="2400" dirty="0">
                <a:solidFill>
                  <a:schemeClr val="bg2"/>
                </a:solidFill>
                <a:latin typeface="Segoe UI" panose="020B0502040204020203" pitchFamily="34" charset="0"/>
                <a:ea typeface="Calibri" panose="020F0502020204030204" pitchFamily="34" charset="0"/>
              </a:rPr>
              <a:t>Access is a relational database management system. In a relational database, you divide your information into separate, subject-based tables. You then use table relationships to bring the information together as needed</a:t>
            </a:r>
            <a:endParaRPr lang="en-US" sz="2400" dirty="0">
              <a:solidFill>
                <a:schemeClr val="bg2"/>
              </a:solidFill>
            </a:endParaRPr>
          </a:p>
        </p:txBody>
      </p:sp>
    </p:spTree>
    <p:extLst>
      <p:ext uri="{BB962C8B-B14F-4D97-AF65-F5344CB8AC3E}">
        <p14:creationId xmlns:p14="http://schemas.microsoft.com/office/powerpoint/2010/main" val="4058327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 name="Picture 1">
            <a:extLst>
              <a:ext uri="{FF2B5EF4-FFF2-40B4-BE49-F238E27FC236}">
                <a16:creationId xmlns:a16="http://schemas.microsoft.com/office/drawing/2014/main" id="{48ADABB4-65E5-533B-D4E1-656288EE1F0D}"/>
              </a:ext>
            </a:extLst>
          </p:cNvPr>
          <p:cNvPicPr>
            <a:picLocks noChangeAspect="1"/>
          </p:cNvPicPr>
          <p:nvPr/>
        </p:nvPicPr>
        <p:blipFill>
          <a:blip r:embed="rId3"/>
          <a:stretch>
            <a:fillRect/>
          </a:stretch>
        </p:blipFill>
        <p:spPr>
          <a:xfrm>
            <a:off x="2965733" y="0"/>
            <a:ext cx="5969424" cy="3998981"/>
          </a:xfrm>
          <a:prstGeom prst="rect">
            <a:avLst/>
          </a:prstGeom>
        </p:spPr>
      </p:pic>
      <p:sp>
        <p:nvSpPr>
          <p:cNvPr id="4" name="TextBox 3">
            <a:extLst>
              <a:ext uri="{FF2B5EF4-FFF2-40B4-BE49-F238E27FC236}">
                <a16:creationId xmlns:a16="http://schemas.microsoft.com/office/drawing/2014/main" id="{4043532E-6E53-20F4-669C-147304DBF1AE}"/>
              </a:ext>
            </a:extLst>
          </p:cNvPr>
          <p:cNvSpPr txBox="1"/>
          <p:nvPr/>
        </p:nvSpPr>
        <p:spPr>
          <a:xfrm>
            <a:off x="208280" y="4177771"/>
            <a:ext cx="12339320" cy="2062103"/>
          </a:xfrm>
          <a:prstGeom prst="rect">
            <a:avLst/>
          </a:prstGeom>
          <a:noFill/>
        </p:spPr>
        <p:txBody>
          <a:bodyPr wrap="square">
            <a:spAutoFit/>
          </a:bodyPr>
          <a:lstStyle/>
          <a:p>
            <a:r>
              <a:rPr lang="en-US" sz="3200" dirty="0">
                <a:solidFill>
                  <a:schemeClr val="bg2"/>
                </a:solidFill>
                <a:latin typeface="Segoe UI" panose="020B0502040204020203" pitchFamily="34" charset="0"/>
                <a:ea typeface="Calibri" panose="020F0502020204030204" pitchFamily="34" charset="0"/>
              </a:rPr>
              <a:t>To represent a one-to-many relationship in your database design, take the primary key on the "one" side of the relationship and add it as an additional column or columns to the table on the "many" side of the relationship. In this case</a:t>
            </a:r>
            <a:endParaRPr lang="en-US" sz="3200" dirty="0">
              <a:solidFill>
                <a:schemeClr val="bg2"/>
              </a:solidFill>
            </a:endParaRPr>
          </a:p>
        </p:txBody>
      </p:sp>
    </p:spTree>
    <p:extLst>
      <p:ext uri="{BB962C8B-B14F-4D97-AF65-F5344CB8AC3E}">
        <p14:creationId xmlns:p14="http://schemas.microsoft.com/office/powerpoint/2010/main" val="1434175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5" name="TextBox 4">
            <a:extLst>
              <a:ext uri="{FF2B5EF4-FFF2-40B4-BE49-F238E27FC236}">
                <a16:creationId xmlns:a16="http://schemas.microsoft.com/office/drawing/2014/main" id="{A73D2131-3BF7-E3AA-5AE1-72A9E2CC111E}"/>
              </a:ext>
            </a:extLst>
          </p:cNvPr>
          <p:cNvSpPr txBox="1"/>
          <p:nvPr/>
        </p:nvSpPr>
        <p:spPr>
          <a:xfrm>
            <a:off x="158044" y="189927"/>
            <a:ext cx="10498667" cy="666786"/>
          </a:xfrm>
          <a:prstGeom prst="rect">
            <a:avLst/>
          </a:prstGeom>
          <a:noFill/>
        </p:spPr>
        <p:txBody>
          <a:bodyPr wrap="square">
            <a:spAutoFit/>
          </a:bodyPr>
          <a:lstStyle/>
          <a:p>
            <a:r>
              <a:rPr lang="en-US" sz="3733" dirty="0">
                <a:solidFill>
                  <a:schemeClr val="bg2"/>
                </a:solidFill>
              </a:rPr>
              <a:t>Refining the design</a:t>
            </a:r>
          </a:p>
        </p:txBody>
      </p:sp>
      <p:sp>
        <p:nvSpPr>
          <p:cNvPr id="7" name="TextBox 6">
            <a:extLst>
              <a:ext uri="{FF2B5EF4-FFF2-40B4-BE49-F238E27FC236}">
                <a16:creationId xmlns:a16="http://schemas.microsoft.com/office/drawing/2014/main" id="{CE0D9649-1EE3-9F6B-063B-FAFC6578CE31}"/>
              </a:ext>
            </a:extLst>
          </p:cNvPr>
          <p:cNvSpPr txBox="1"/>
          <p:nvPr/>
        </p:nvSpPr>
        <p:spPr>
          <a:xfrm>
            <a:off x="598312" y="887553"/>
            <a:ext cx="11684000" cy="1569660"/>
          </a:xfrm>
          <a:prstGeom prst="rect">
            <a:avLst/>
          </a:prstGeom>
          <a:noFill/>
        </p:spPr>
        <p:txBody>
          <a:bodyPr wrap="square">
            <a:spAutoFit/>
          </a:bodyPr>
          <a:lstStyle/>
          <a:p>
            <a:r>
              <a:rPr lang="en-US" sz="2400" dirty="0">
                <a:solidFill>
                  <a:schemeClr val="bg2"/>
                </a:solidFill>
                <a:latin typeface="Segoe UI" panose="020B0502040204020203" pitchFamily="34" charset="0"/>
                <a:ea typeface="Calibri" panose="020F0502020204030204" pitchFamily="34" charset="0"/>
              </a:rPr>
              <a:t>Once you have the tables, fields, and relationships you need, you should create and populate your tables with sample data and try working with the information: creating queries, adding new records, and so on. Doing this helps highlight potential problems</a:t>
            </a:r>
            <a:endParaRPr lang="en-US" sz="2400" dirty="0">
              <a:solidFill>
                <a:schemeClr val="bg2"/>
              </a:solidFill>
            </a:endParaRPr>
          </a:p>
        </p:txBody>
      </p:sp>
      <p:sp>
        <p:nvSpPr>
          <p:cNvPr id="9" name="TextBox 8">
            <a:extLst>
              <a:ext uri="{FF2B5EF4-FFF2-40B4-BE49-F238E27FC236}">
                <a16:creationId xmlns:a16="http://schemas.microsoft.com/office/drawing/2014/main" id="{0202E002-6941-8C5F-862C-8C95D8AACFD5}"/>
              </a:ext>
            </a:extLst>
          </p:cNvPr>
          <p:cNvSpPr txBox="1"/>
          <p:nvPr/>
        </p:nvSpPr>
        <p:spPr>
          <a:xfrm>
            <a:off x="519289" y="2628780"/>
            <a:ext cx="10498667" cy="913199"/>
          </a:xfrm>
          <a:prstGeom prst="rect">
            <a:avLst/>
          </a:prstGeom>
          <a:noFill/>
        </p:spPr>
        <p:txBody>
          <a:bodyPr wrap="square">
            <a:spAutoFit/>
          </a:bodyPr>
          <a:lstStyle/>
          <a:p>
            <a:r>
              <a:rPr lang="en-US" sz="2667" dirty="0">
                <a:solidFill>
                  <a:schemeClr val="bg2"/>
                </a:solidFill>
                <a:latin typeface="Segoe UI" panose="020B0502040204020203" pitchFamily="34" charset="0"/>
                <a:ea typeface="Calibri" panose="020F0502020204030204" pitchFamily="34" charset="0"/>
              </a:rPr>
              <a:t>As you try out your initial database, you will probably discover room for improvement. Here are a few things to check for</a:t>
            </a:r>
            <a:endParaRPr lang="en-US" sz="2667" dirty="0">
              <a:solidFill>
                <a:schemeClr val="bg2"/>
              </a:solidFill>
            </a:endParaRPr>
          </a:p>
        </p:txBody>
      </p:sp>
      <p:sp>
        <p:nvSpPr>
          <p:cNvPr id="11" name="TextBox 10">
            <a:extLst>
              <a:ext uri="{FF2B5EF4-FFF2-40B4-BE49-F238E27FC236}">
                <a16:creationId xmlns:a16="http://schemas.microsoft.com/office/drawing/2014/main" id="{98AB93D1-FFE3-8DCB-49A1-D1335365E8AD}"/>
              </a:ext>
            </a:extLst>
          </p:cNvPr>
          <p:cNvSpPr txBox="1"/>
          <p:nvPr/>
        </p:nvSpPr>
        <p:spPr>
          <a:xfrm>
            <a:off x="1190979" y="3636247"/>
            <a:ext cx="10498667" cy="379656"/>
          </a:xfrm>
          <a:prstGeom prst="rect">
            <a:avLst/>
          </a:prstGeom>
          <a:noFill/>
        </p:spPr>
        <p:txBody>
          <a:bodyPr wrap="square">
            <a:spAutoFit/>
          </a:bodyPr>
          <a:lstStyle/>
          <a:p>
            <a:r>
              <a:rPr lang="en-US" sz="1867" dirty="0">
                <a:solidFill>
                  <a:schemeClr val="bg2"/>
                </a:solidFill>
                <a:latin typeface="Segoe UI" panose="020B0502040204020203" pitchFamily="34" charset="0"/>
                <a:ea typeface="Calibri" panose="020F0502020204030204" pitchFamily="34" charset="0"/>
              </a:rPr>
              <a:t>Did you forget any columns? If so, does the information belong in the existing tables?</a:t>
            </a:r>
            <a:endParaRPr lang="en-US" sz="2400" dirty="0">
              <a:solidFill>
                <a:schemeClr val="bg2"/>
              </a:solidFill>
            </a:endParaRPr>
          </a:p>
        </p:txBody>
      </p:sp>
      <p:sp>
        <p:nvSpPr>
          <p:cNvPr id="13" name="TextBox 12">
            <a:extLst>
              <a:ext uri="{FF2B5EF4-FFF2-40B4-BE49-F238E27FC236}">
                <a16:creationId xmlns:a16="http://schemas.microsoft.com/office/drawing/2014/main" id="{2A6DA7C5-EAF5-DA9F-50F1-42B1994BF374}"/>
              </a:ext>
            </a:extLst>
          </p:cNvPr>
          <p:cNvSpPr txBox="1"/>
          <p:nvPr/>
        </p:nvSpPr>
        <p:spPr>
          <a:xfrm>
            <a:off x="1190979" y="4162565"/>
            <a:ext cx="10498667" cy="379656"/>
          </a:xfrm>
          <a:prstGeom prst="rect">
            <a:avLst/>
          </a:prstGeom>
          <a:noFill/>
        </p:spPr>
        <p:txBody>
          <a:bodyPr wrap="square">
            <a:spAutoFit/>
          </a:bodyPr>
          <a:lstStyle/>
          <a:p>
            <a:r>
              <a:rPr lang="en-US" sz="1867" dirty="0">
                <a:solidFill>
                  <a:schemeClr val="bg2"/>
                </a:solidFill>
                <a:latin typeface="Segoe UI" panose="020B0502040204020203" pitchFamily="34" charset="0"/>
                <a:ea typeface="Calibri" panose="020F0502020204030204" pitchFamily="34" charset="0"/>
              </a:rPr>
              <a:t>Are any columns unnecessary because they can be calculated from existing fields?</a:t>
            </a:r>
            <a:endParaRPr lang="en-US" sz="2400" dirty="0">
              <a:solidFill>
                <a:schemeClr val="bg2"/>
              </a:solidFill>
            </a:endParaRPr>
          </a:p>
        </p:txBody>
      </p:sp>
      <p:sp>
        <p:nvSpPr>
          <p:cNvPr id="15" name="TextBox 14">
            <a:extLst>
              <a:ext uri="{FF2B5EF4-FFF2-40B4-BE49-F238E27FC236}">
                <a16:creationId xmlns:a16="http://schemas.microsoft.com/office/drawing/2014/main" id="{59DDB8AB-1020-D62A-04D4-BF1E55DA3A99}"/>
              </a:ext>
            </a:extLst>
          </p:cNvPr>
          <p:cNvSpPr txBox="1"/>
          <p:nvPr/>
        </p:nvSpPr>
        <p:spPr>
          <a:xfrm>
            <a:off x="1190979" y="4695269"/>
            <a:ext cx="10498667" cy="379656"/>
          </a:xfrm>
          <a:prstGeom prst="rect">
            <a:avLst/>
          </a:prstGeom>
          <a:noFill/>
        </p:spPr>
        <p:txBody>
          <a:bodyPr wrap="square">
            <a:spAutoFit/>
          </a:bodyPr>
          <a:lstStyle/>
          <a:p>
            <a:r>
              <a:rPr lang="en-US" sz="1867" dirty="0">
                <a:solidFill>
                  <a:schemeClr val="bg2"/>
                </a:solidFill>
                <a:latin typeface="Segoe UI" panose="020B0502040204020203" pitchFamily="34" charset="0"/>
                <a:ea typeface="Times New Roman" panose="02020603050405020304" pitchFamily="18" charset="0"/>
              </a:rPr>
              <a:t>Are you repeatedly entering duplicate information in one of your tables?</a:t>
            </a:r>
            <a:endParaRPr lang="en-US" sz="1867" dirty="0">
              <a:solidFill>
                <a:schemeClr val="bg2"/>
              </a:solidFill>
              <a:latin typeface="Times New Roman" panose="02020603050405020304" pitchFamily="18" charset="0"/>
              <a:ea typeface="Times New Roman" panose="02020603050405020304" pitchFamily="18" charset="0"/>
            </a:endParaRPr>
          </a:p>
        </p:txBody>
      </p:sp>
      <p:sp>
        <p:nvSpPr>
          <p:cNvPr id="17" name="TextBox 16">
            <a:extLst>
              <a:ext uri="{FF2B5EF4-FFF2-40B4-BE49-F238E27FC236}">
                <a16:creationId xmlns:a16="http://schemas.microsoft.com/office/drawing/2014/main" id="{60BAF8BB-4C76-498B-E99D-8C931ED6DFE3}"/>
              </a:ext>
            </a:extLst>
          </p:cNvPr>
          <p:cNvSpPr txBox="1"/>
          <p:nvPr/>
        </p:nvSpPr>
        <p:spPr>
          <a:xfrm>
            <a:off x="1190979" y="5178566"/>
            <a:ext cx="10498667" cy="666977"/>
          </a:xfrm>
          <a:prstGeom prst="rect">
            <a:avLst/>
          </a:prstGeom>
          <a:noFill/>
        </p:spPr>
        <p:txBody>
          <a:bodyPr wrap="square">
            <a:spAutoFit/>
          </a:bodyPr>
          <a:lstStyle/>
          <a:p>
            <a:r>
              <a:rPr lang="en-US" sz="1867" dirty="0">
                <a:solidFill>
                  <a:schemeClr val="bg2"/>
                </a:solidFill>
                <a:latin typeface="Segoe UI" panose="020B0502040204020203" pitchFamily="34" charset="0"/>
                <a:ea typeface="Times New Roman" panose="02020603050405020304" pitchFamily="18" charset="0"/>
              </a:rPr>
              <a:t>Do you have tables with many fields, a limited number of records, and many empty fields in individual records?</a:t>
            </a:r>
            <a:endParaRPr lang="en-US" sz="1867" dirty="0">
              <a:solidFill>
                <a:schemeClr val="bg2"/>
              </a:solidFill>
              <a:latin typeface="Times New Roman" panose="02020603050405020304" pitchFamily="18" charset="0"/>
              <a:ea typeface="Times New Roman" panose="02020603050405020304" pitchFamily="18" charset="0"/>
            </a:endParaRPr>
          </a:p>
        </p:txBody>
      </p:sp>
      <p:sp>
        <p:nvSpPr>
          <p:cNvPr id="19" name="TextBox 18">
            <a:extLst>
              <a:ext uri="{FF2B5EF4-FFF2-40B4-BE49-F238E27FC236}">
                <a16:creationId xmlns:a16="http://schemas.microsoft.com/office/drawing/2014/main" id="{C366B41F-C0DC-FEBF-7742-9002B3FED75E}"/>
              </a:ext>
            </a:extLst>
          </p:cNvPr>
          <p:cNvSpPr txBox="1"/>
          <p:nvPr/>
        </p:nvSpPr>
        <p:spPr>
          <a:xfrm>
            <a:off x="1190979" y="6082727"/>
            <a:ext cx="10498667" cy="379656"/>
          </a:xfrm>
          <a:prstGeom prst="rect">
            <a:avLst/>
          </a:prstGeom>
          <a:noFill/>
        </p:spPr>
        <p:txBody>
          <a:bodyPr wrap="square">
            <a:spAutoFit/>
          </a:bodyPr>
          <a:lstStyle/>
          <a:p>
            <a:r>
              <a:rPr lang="en-US" sz="1867" dirty="0">
                <a:solidFill>
                  <a:schemeClr val="bg2"/>
                </a:solidFill>
                <a:latin typeface="Segoe UI" panose="020B0502040204020203" pitchFamily="34" charset="0"/>
                <a:ea typeface="Times New Roman" panose="02020603050405020304" pitchFamily="18" charset="0"/>
              </a:rPr>
              <a:t>Has each information item been broken into its smallest useful parts?</a:t>
            </a:r>
            <a:endParaRPr lang="en-US" sz="1867" dirty="0">
              <a:solidFill>
                <a:schemeClr val="bg2"/>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4512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44</Paragraphs>
  <Slides>11</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Arial</vt:lpstr>
      <vt:lpstr>Calibri</vt:lpstr>
      <vt:lpstr>Calibri Light</vt:lpstr>
      <vt:lpstr>Courier New</vt:lpstr>
      <vt:lpstr>Playfair Display</vt:lpstr>
      <vt:lpstr>Segoe UI</vt:lpstr>
      <vt:lpstr>Segoe UI Semilight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Jayce</dc:creator>
  <cp:lastModifiedBy>Tran Jayce</cp:lastModifiedBy>
  <cp:revision>1</cp:revision>
  <dcterms:created xsi:type="dcterms:W3CDTF">2022-10-31T14:57:13Z</dcterms:created>
  <dcterms:modified xsi:type="dcterms:W3CDTF">2022-10-31T14:57:24Z</dcterms:modified>
</cp:coreProperties>
</file>